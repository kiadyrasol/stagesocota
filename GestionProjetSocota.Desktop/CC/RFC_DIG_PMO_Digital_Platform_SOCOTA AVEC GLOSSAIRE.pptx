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07ED0D6-A60C-89F9-71D9-BC2C8F59F293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E12289-29A1-3B0A-3323-19662094B164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xfrm>
            <a:off x="3884608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fld id="{08CFD346-DF02-4DEF-9EEE-132FDC7F5F0A}" type="datetime1">
              <a:rPr lang="en-US"/>
              <a:pPr lvl="0"/>
              <a:t>8/11/2026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CFBABD1D-ADDC-77FF-1AF6-341D758827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099"/>
          </a:xfrm>
          <a:prstGeom prst="rect">
            <a:avLst/>
          </a:prstGeom>
          <a:noFill/>
          <a:ln w="12701">
            <a:solidFill>
              <a:srgbClr val="000000"/>
            </a:solidFill>
            <a:prstDash val="solid"/>
          </a:ln>
        </p:spPr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0CE1FA69-B061-2D87-87D7-940971724BED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D0F1B4-74DB-D78C-2379-596420233412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xfrm>
            <a:off x="0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375E4D-8E72-2969-26CA-97AA27D617D8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fld id="{453FA439-38CB-4F1C-BFE7-D9EB722D3B95}" type="slidenum"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9936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marR="0" lvl="0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n-US" sz="1200" b="0" i="0" u="none" strike="noStrike" kern="1200" cap="none" spc="0" baseline="0">
        <a:solidFill>
          <a:srgbClr val="000000"/>
        </a:solidFill>
        <a:uFillTx/>
        <a:latin typeface="Aptos"/>
      </a:defRPr>
    </a:lvl1pPr>
    <a:lvl2pPr marL="457200" marR="0" lvl="1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n-US" sz="1200" b="0" i="0" u="none" strike="noStrike" kern="1200" cap="none" spc="0" baseline="0">
        <a:solidFill>
          <a:srgbClr val="000000"/>
        </a:solidFill>
        <a:uFillTx/>
        <a:latin typeface="Aptos"/>
      </a:defRPr>
    </a:lvl2pPr>
    <a:lvl3pPr marL="914400" marR="0" lvl="2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n-US" sz="1200" b="0" i="0" u="none" strike="noStrike" kern="1200" cap="none" spc="0" baseline="0">
        <a:solidFill>
          <a:srgbClr val="000000"/>
        </a:solidFill>
        <a:uFillTx/>
        <a:latin typeface="Aptos"/>
      </a:defRPr>
    </a:lvl3pPr>
    <a:lvl4pPr marL="1371600" marR="0" lvl="3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n-US" sz="1200" b="0" i="0" u="none" strike="noStrike" kern="1200" cap="none" spc="0" baseline="0">
        <a:solidFill>
          <a:srgbClr val="000000"/>
        </a:solidFill>
        <a:uFillTx/>
        <a:latin typeface="Aptos"/>
      </a:defRPr>
    </a:lvl4pPr>
    <a:lvl5pPr marL="1828800" marR="0" lvl="4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n-US" sz="1200" b="0" i="0" u="none" strike="noStrike" kern="1200" cap="none" spc="0" baseline="0">
        <a:solidFill>
          <a:srgbClr val="000000"/>
        </a:solidFill>
        <a:uFillTx/>
        <a:latin typeface="Apto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DCF1FD-93D4-B202-BC24-985825056A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5FA678-F914-57F2-BA50-10511051F47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lvl="0"/>
            <a:r>
              <a:rPr lang="en-US"/>
              <a:t>[Sources] - Développement d'une Application Intranet de Pilotage des Projets de Digitalisation SOCOTA (CF, SG, CRE).docx - RFC modèle.pptx [/Sources]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F166B8-67C1-7D51-10B4-87778493B97B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8D49314B-5382-4A7F-B9B9-9AC64D96D01C}" type="slidenum"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A18EA8-0FD5-7A9C-1679-EEF47E4047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85380C-42A5-1F36-8DDD-090BE781B13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lvl="0"/>
            <a:r>
              <a:rPr lang="en-US"/>
              <a:t>[Sources] - Développement d'une Application Intranet de Pilotage des Projets de Digitalisation SOCOTA (CF, SG, CRE).docx - RFC modèle.pptx [/Sources]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229041-F129-7916-B771-B3036F0FC416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F31A87A7-B623-4DFB-AAD2-9AA98B17AF8C}" type="slidenum"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F4C7D8-BCF2-B4C6-6C6C-DC72379032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D0686F-8916-B044-846A-13D1327FE2EC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lvl="0"/>
            <a:r>
              <a:rPr lang="en-US"/>
              <a:t>[Sources] - Développement d'une Application Intranet de Pilotage des Projets de Digitalisation SOCOTA (CF, SG, CRE).docx - RFC modèle.pptx [/Sources]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73265F-A7F1-C7A9-4377-15CA40A669A0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23E4378D-F628-4A28-BA22-D9FD6A497D19}" type="slidenum"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A26D4D-6689-2F8D-DE1A-8546889893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10A149-91D3-8ADB-CAFA-4F15BF7704F5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lvl="0"/>
            <a:r>
              <a:rPr lang="en-US"/>
              <a:t>[Sources] - Développement d'une Application Intranet de Pilotage des Projets de Digitalisation SOCOTA (CF, SG, CRE).docx - RFC modèle.pptx [/Sources]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53FD4D-F136-161C-D815-55A54A0430B6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139E199E-E1D1-40AF-B4ED-62BA4F9FC7A1}" type="slidenum"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D3E837-FDF7-9C53-BFCE-B0D242BF2F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F943B3-D62A-890A-271A-6C1E4E62BC5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lvl="0"/>
            <a:r>
              <a:rPr lang="en-US"/>
              <a:t>[Sources] - Développement d'une Application Intranet de Pilotage des Projets de Digitalisation SOCOTA (CF, SG, CRE).docx - RFC modèle.pptx [/Sources]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A8A7D5-FFC6-5A42-5113-75FBCD4F6C0F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231207FE-BCA8-47BE-937A-5F9F296BEBD3}" type="slidenum"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EAB6E1-2D6B-B179-B8D8-E7E9C30C37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033A47-AA2D-AA3C-F7BF-BA961D9E022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lvl="0"/>
            <a:r>
              <a:rPr lang="en-US"/>
              <a:t>[Sources] - Développement d'une Application Intranet de Pilotage des Projets de Digitalisation SOCOTA (CF, SG, CRE).docx - RFC modèle.pptx [/Sources]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01E0AB-5627-CB2B-2936-19CB092FCB6D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69990DB4-39A5-47C4-AAFD-CBD7F474D5F7}" type="slidenum"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D1CA94-A84E-B039-D2A8-B5C1CB6266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819A45-C53B-0FFD-5238-09D18B71D70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lvl="0"/>
            <a:r>
              <a:rPr lang="en-US"/>
              <a:t>[Sources] - Développement d'une Application Intranet de Pilotage des Projets de Digitalisation SOCOTA (CF, SG, CRE).docx - RFC modèle.pptx [/Sources]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F33D70-0EBF-04C8-530F-CE962701574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5C905A4D-3C86-4490-8B3B-2C238E8F416E}" type="slidenum">
              <a:t>7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65401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G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C86A57C-B886-7436-E4E1-0209E2012259}"/>
              </a:ext>
            </a:extLst>
          </p:cNvPr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84BD00"/>
          </a:solidFill>
          <a:ln w="12701" cap="flat">
            <a:solidFill>
              <a:srgbClr val="84BD00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8A7B754-1A41-4D5E-CDC0-DF53BE4E42E2}"/>
              </a:ext>
            </a:extLst>
          </p:cNvPr>
          <p:cNvSpPr/>
          <p:nvPr/>
        </p:nvSpPr>
        <p:spPr>
          <a:xfrm>
            <a:off x="502920" y="228600"/>
            <a:ext cx="5303520" cy="2743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00" b="1" i="0" u="none" strike="noStrike" kern="1200" cap="none" spc="0" baseline="0">
                <a:solidFill>
                  <a:srgbClr val="5D6773"/>
                </a:solidFill>
                <a:uFillTx/>
                <a:latin typeface="Aptos" pitchFamily="34"/>
                <a:ea typeface="Aptos" pitchFamily="34"/>
                <a:cs typeface="Aptos" pitchFamily="34"/>
              </a:rPr>
              <a:t>RFC | IT &amp; DIGITALISATION</a:t>
            </a:r>
            <a:endParaRPr lang="en-US" sz="10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A36230B-B848-FA91-3554-F3C8251F49CC}"/>
              </a:ext>
            </a:extLst>
          </p:cNvPr>
          <p:cNvSpPr/>
          <p:nvPr/>
        </p:nvSpPr>
        <p:spPr>
          <a:xfrm>
            <a:off x="8503920" y="228600"/>
            <a:ext cx="3154679" cy="2743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00" b="0" i="0" u="none" strike="noStrike" kern="1200" cap="none" spc="0" baseline="0">
                <a:solidFill>
                  <a:srgbClr val="7A838D"/>
                </a:solidFill>
                <a:uFillTx/>
                <a:latin typeface="Aptos" pitchFamily="34"/>
                <a:ea typeface="Aptos" pitchFamily="34"/>
                <a:cs typeface="Aptos" pitchFamily="34"/>
              </a:rPr>
              <a:t>SOCOTA Group - Textile Division</a:t>
            </a:r>
            <a:endParaRPr lang="en-US" sz="10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257ABA9F-B6AA-C2ED-D347-FBC9752457CD}"/>
              </a:ext>
            </a:extLst>
          </p:cNvPr>
          <p:cNvSpPr/>
          <p:nvPr/>
        </p:nvSpPr>
        <p:spPr>
          <a:xfrm>
            <a:off x="502920" y="6519672"/>
            <a:ext cx="11155680" cy="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4">
                <a:pos x="f34" y="f34"/>
              </a:cxn>
              <a:cxn ang="f25">
                <a:pos x="f35" y="f36"/>
              </a:cxn>
            </a:cxnLst>
            <a:rect l="f31" t="f31" r="f32" b="f33"/>
            <a:pathLst>
              <a:path>
                <a:moveTo>
                  <a:pt x="f34" y="f34"/>
                </a:moveTo>
                <a:lnTo>
                  <a:pt x="f35" y="f36"/>
                </a:lnTo>
              </a:path>
            </a:pathLst>
          </a:custGeom>
          <a:noFill/>
          <a:ln w="12701" cap="flat">
            <a:solidFill>
              <a:srgbClr val="D6DBE0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AAF21B2-62CD-6811-E4EC-BA8CF920F73C}"/>
              </a:ext>
            </a:extLst>
          </p:cNvPr>
          <p:cNvSpPr/>
          <p:nvPr/>
        </p:nvSpPr>
        <p:spPr>
          <a:xfrm>
            <a:off x="502920" y="6565392"/>
            <a:ext cx="9601200" cy="1645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" b="0" i="0" u="none" strike="noStrike" kern="1200" cap="none" spc="0" baseline="0">
                <a:solidFill>
                  <a:srgbClr val="7A838D"/>
                </a:solidFill>
                <a:uFillTx/>
                <a:latin typeface="Aptos" pitchFamily="34"/>
                <a:ea typeface="Aptos" pitchFamily="34"/>
                <a:cs typeface="Aptos" pitchFamily="34"/>
              </a:rPr>
              <a:t>Application Intranet de Pilotage des Projets de Digitalisation</a:t>
            </a:r>
            <a:endParaRPr lang="en-US" sz="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7" name="Slide Number Placeholder 0">
            <a:extLst>
              <a:ext uri="{FF2B5EF4-FFF2-40B4-BE49-F238E27FC236}">
                <a16:creationId xmlns:a16="http://schemas.microsoft.com/office/drawing/2014/main" id="{9DA15E3C-2555-B0DE-5326-4FAD1B0A7E73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48B41DC-9FF6-4DEC-B5D5-1469455C857D}" type="slidenum"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443837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0">
            <a:extLst>
              <a:ext uri="{FF2B5EF4-FFF2-40B4-BE49-F238E27FC236}">
                <a16:creationId xmlns:a16="http://schemas.microsoft.com/office/drawing/2014/main" id="{3E01CC49-959B-CD80-4C57-90FB2B3C390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201400" y="6547103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800" b="0" i="0" u="none" strike="noStrike" kern="1200" cap="none" spc="0" baseline="0">
                <a:solidFill>
                  <a:srgbClr val="7A838D"/>
                </a:solidFill>
                <a:uFillTx/>
                <a:latin typeface="Aptos"/>
                <a:ea typeface="Aptos"/>
                <a:cs typeface="Aptos"/>
              </a:defRPr>
            </a:lvl1pPr>
          </a:lstStyle>
          <a:p>
            <a:pPr lvl="0"/>
            <a:fld id="{856ACAC1-4A71-4D7D-9750-0C4BD907E58D}" type="slidenum"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21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09D2487-AB85-89F1-9BF1-986DCD94F047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12B"/>
          </a:solidFill>
          <a:ln w="12701" cap="flat">
            <a:solidFill>
              <a:srgbClr val="17212B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AE7FE9A-3A6D-AAF8-8F92-D05596D9D6F4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4BD00"/>
          </a:solidFill>
          <a:ln w="12701" cap="flat">
            <a:solidFill>
              <a:srgbClr val="84BD00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D4279F7-C2A0-9F8B-9B8F-B6FEB1CB61B9}"/>
              </a:ext>
            </a:extLst>
          </p:cNvPr>
          <p:cNvSpPr/>
          <p:nvPr/>
        </p:nvSpPr>
        <p:spPr>
          <a:xfrm>
            <a:off x="713232" y="713232"/>
            <a:ext cx="3657600" cy="29260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0" cap="none" spc="150" baseline="0">
                <a:solidFill>
                  <a:srgbClr val="84BD00"/>
                </a:solidFill>
                <a:uFillTx/>
                <a:latin typeface="Aptos"/>
              </a:rPr>
              <a:t>REQUEST FOR CHANGE</a:t>
            </a: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ED1A1C2-6862-65ED-2B7F-1C97501AFF07}"/>
              </a:ext>
            </a:extLst>
          </p:cNvPr>
          <p:cNvSpPr/>
          <p:nvPr/>
        </p:nvSpPr>
        <p:spPr>
          <a:xfrm>
            <a:off x="685800" y="1170432"/>
            <a:ext cx="7863840" cy="14173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100" b="1" i="0" u="none" strike="noStrike" kern="1200" cap="none" spc="0" baseline="0">
                <a:solidFill>
                  <a:srgbClr val="FFFFFF"/>
                </a:solidFill>
                <a:uFillTx/>
                <a:latin typeface="Aptos"/>
              </a:rPr>
              <a:t>Application Intranet de Pilotage</a:t>
            </a:r>
            <a:endParaRPr lang="en-US" sz="31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100" b="1" i="0" u="none" strike="noStrike" kern="1200" cap="none" spc="0" baseline="0">
                <a:solidFill>
                  <a:srgbClr val="FFFFFF"/>
                </a:solidFill>
                <a:uFillTx/>
                <a:latin typeface="Aptos"/>
              </a:rPr>
              <a:t>des Projets de Digitalisation</a:t>
            </a:r>
            <a:endParaRPr lang="en-US" sz="31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B99E0F4-3EAE-ED6C-37EC-C68712EF55F2}"/>
              </a:ext>
            </a:extLst>
          </p:cNvPr>
          <p:cNvSpPr/>
          <p:nvPr/>
        </p:nvSpPr>
        <p:spPr>
          <a:xfrm>
            <a:off x="713232" y="2852928"/>
            <a:ext cx="7589520" cy="7315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500" b="0" i="0" u="none" strike="noStrike" kern="1200" cap="none" spc="0" baseline="0">
                <a:solidFill>
                  <a:srgbClr val="D7DEE5"/>
                </a:solidFill>
                <a:uFillTx/>
                <a:latin typeface="Aptos"/>
              </a:rPr>
              <a:t>Plateforme collaborative de gouvernance et de suivi en temps réel du portefeuille DIG pour CF, SG et CRE</a:t>
            </a:r>
            <a:endParaRPr lang="en-US" sz="15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6093F6EE-B384-5EA4-2431-ECD1AA9D8D7E}"/>
              </a:ext>
            </a:extLst>
          </p:cNvPr>
          <p:cNvSpPr/>
          <p:nvPr/>
        </p:nvSpPr>
        <p:spPr>
          <a:xfrm>
            <a:off x="713232" y="3913632"/>
            <a:ext cx="1051560" cy="310896"/>
          </a:xfrm>
          <a:custGeom>
            <a:avLst>
              <a:gd name="f0" fmla="val 5082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84BD00"/>
          </a:solidFill>
          <a:ln w="12701" cap="flat">
            <a:solidFill>
              <a:srgbClr val="84BD00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28BBCB1C-51EC-D79C-B312-E1CA3991495F}"/>
              </a:ext>
            </a:extLst>
          </p:cNvPr>
          <p:cNvSpPr/>
          <p:nvPr/>
        </p:nvSpPr>
        <p:spPr>
          <a:xfrm>
            <a:off x="713232" y="3922776"/>
            <a:ext cx="1051560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0" baseline="0">
                <a:solidFill>
                  <a:srgbClr val="FFFFFF"/>
                </a:solidFill>
                <a:uFillTx/>
                <a:latin typeface="Aptos"/>
              </a:rPr>
              <a:t>RFC DIG</a:t>
            </a:r>
            <a:endParaRPr lang="en-US" sz="9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802181E0-1A6F-1760-1A2E-DE4941828EA7}"/>
              </a:ext>
            </a:extLst>
          </p:cNvPr>
          <p:cNvSpPr/>
          <p:nvPr/>
        </p:nvSpPr>
        <p:spPr>
          <a:xfrm>
            <a:off x="1874519" y="3913632"/>
            <a:ext cx="530352" cy="310896"/>
          </a:xfrm>
          <a:custGeom>
            <a:avLst>
              <a:gd name="f0" fmla="val 5082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2F80ED"/>
          </a:solidFill>
          <a:ln w="12701" cap="flat">
            <a:solidFill>
              <a:srgbClr val="2F80ED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A938E04F-A3FD-2566-EE24-E5B91A77D118}"/>
              </a:ext>
            </a:extLst>
          </p:cNvPr>
          <p:cNvSpPr/>
          <p:nvPr/>
        </p:nvSpPr>
        <p:spPr>
          <a:xfrm>
            <a:off x="1874519" y="3922776"/>
            <a:ext cx="530352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0" baseline="0">
                <a:solidFill>
                  <a:srgbClr val="FFFFFF"/>
                </a:solidFill>
                <a:uFillTx/>
                <a:latin typeface="Aptos"/>
              </a:rPr>
              <a:t>CF</a:t>
            </a:r>
            <a:endParaRPr lang="en-US" sz="9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28E2CE5D-4A10-907D-EA99-19D9E30A135E}"/>
              </a:ext>
            </a:extLst>
          </p:cNvPr>
          <p:cNvSpPr/>
          <p:nvPr/>
        </p:nvSpPr>
        <p:spPr>
          <a:xfrm>
            <a:off x="2514600" y="3913632"/>
            <a:ext cx="530352" cy="310896"/>
          </a:xfrm>
          <a:custGeom>
            <a:avLst>
              <a:gd name="f0" fmla="val 5082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5A623"/>
          </a:solidFill>
          <a:ln w="12701" cap="flat">
            <a:solidFill>
              <a:srgbClr val="F5A623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695FC9AE-142D-ADAA-8D24-461D5A4CEEA1}"/>
              </a:ext>
            </a:extLst>
          </p:cNvPr>
          <p:cNvSpPr/>
          <p:nvPr/>
        </p:nvSpPr>
        <p:spPr>
          <a:xfrm>
            <a:off x="2514600" y="3922776"/>
            <a:ext cx="530352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0" baseline="0">
                <a:solidFill>
                  <a:srgbClr val="FFFFFF"/>
                </a:solidFill>
                <a:uFillTx/>
                <a:latin typeface="Aptos"/>
              </a:rPr>
              <a:t>SG</a:t>
            </a:r>
            <a:endParaRPr lang="en-US" sz="9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7D525020-C437-ED38-4833-ED23B7B19BF2}"/>
              </a:ext>
            </a:extLst>
          </p:cNvPr>
          <p:cNvSpPr/>
          <p:nvPr/>
        </p:nvSpPr>
        <p:spPr>
          <a:xfrm>
            <a:off x="3154679" y="3913632"/>
            <a:ext cx="640080" cy="310896"/>
          </a:xfrm>
          <a:custGeom>
            <a:avLst>
              <a:gd name="f0" fmla="val 5082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6C63FF"/>
          </a:solidFill>
          <a:ln w="12701" cap="flat">
            <a:solidFill>
              <a:srgbClr val="6C63FF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B0B17D57-212A-CB5A-8BA4-FA44A5D28944}"/>
              </a:ext>
            </a:extLst>
          </p:cNvPr>
          <p:cNvSpPr/>
          <p:nvPr/>
        </p:nvSpPr>
        <p:spPr>
          <a:xfrm>
            <a:off x="3154679" y="3922776"/>
            <a:ext cx="640080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0" baseline="0">
                <a:solidFill>
                  <a:srgbClr val="FFFFFF"/>
                </a:solidFill>
                <a:uFillTx/>
                <a:latin typeface="Aptos"/>
              </a:rPr>
              <a:t>CRE</a:t>
            </a:r>
            <a:endParaRPr lang="en-US" sz="9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35C1B244-D541-21EE-6B50-8E109A287EA5}"/>
              </a:ext>
            </a:extLst>
          </p:cNvPr>
          <p:cNvSpPr/>
          <p:nvPr/>
        </p:nvSpPr>
        <p:spPr>
          <a:xfrm>
            <a:off x="8823960" y="960120"/>
            <a:ext cx="2286000" cy="4526280"/>
          </a:xfrm>
          <a:custGeom>
            <a:avLst>
              <a:gd name="f0" fmla="val 691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22313F">
              <a:alpha val="95000"/>
            </a:srgbClr>
          </a:solidFill>
          <a:ln w="12701" cap="flat">
            <a:solidFill>
              <a:srgbClr val="3A4A58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6653670F-B28B-DD35-1862-0678FE2B0356}"/>
              </a:ext>
            </a:extLst>
          </p:cNvPr>
          <p:cNvSpPr/>
          <p:nvPr/>
        </p:nvSpPr>
        <p:spPr>
          <a:xfrm>
            <a:off x="9144000" y="1280160"/>
            <a:ext cx="320040" cy="320040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84BD00"/>
          </a:solidFill>
          <a:ln w="12701" cap="flat">
            <a:solidFill>
              <a:srgbClr val="84BD00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E47CCFA8-A43C-5516-E346-8DA33FAC6A08}"/>
              </a:ext>
            </a:extLst>
          </p:cNvPr>
          <p:cNvSpPr/>
          <p:nvPr/>
        </p:nvSpPr>
        <p:spPr>
          <a:xfrm>
            <a:off x="9646920" y="1271016"/>
            <a:ext cx="1143000" cy="3200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1" i="0" u="none" strike="noStrike" kern="1200" cap="none" spc="0" baseline="0">
                <a:solidFill>
                  <a:srgbClr val="FFFFFF"/>
                </a:solidFill>
                <a:uFillTx/>
                <a:latin typeface="Aptos"/>
              </a:rPr>
              <a:t>RFC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F26DD998-9345-9E21-F9D0-770F5AA1F037}"/>
              </a:ext>
            </a:extLst>
          </p:cNvPr>
          <p:cNvSpPr/>
          <p:nvPr/>
        </p:nvSpPr>
        <p:spPr>
          <a:xfrm>
            <a:off x="9299448" y="1600200"/>
            <a:ext cx="0" cy="338328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4">
                <a:pos x="f34" y="f34"/>
              </a:cxn>
              <a:cxn ang="f25">
                <a:pos x="f35" y="f36"/>
              </a:cxn>
            </a:cxnLst>
            <a:rect l="f31" t="f31" r="f32" b="f33"/>
            <a:pathLst>
              <a:path>
                <a:moveTo>
                  <a:pt x="f34" y="f34"/>
                </a:moveTo>
                <a:lnTo>
                  <a:pt x="f35" y="f36"/>
                </a:lnTo>
              </a:path>
            </a:pathLst>
          </a:custGeom>
          <a:noFill/>
          <a:ln w="25402" cap="flat">
            <a:solidFill>
              <a:srgbClr val="526270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A5DC6E51-4128-254A-D74F-E0E99C75C261}"/>
              </a:ext>
            </a:extLst>
          </p:cNvPr>
          <p:cNvSpPr/>
          <p:nvPr/>
        </p:nvSpPr>
        <p:spPr>
          <a:xfrm>
            <a:off x="9144000" y="1938528"/>
            <a:ext cx="320040" cy="320040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84BD00"/>
          </a:solidFill>
          <a:ln w="12701" cap="flat">
            <a:solidFill>
              <a:srgbClr val="84BD00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C755D7A3-86CE-7D76-DAEE-3D294BD81B4A}"/>
              </a:ext>
            </a:extLst>
          </p:cNvPr>
          <p:cNvSpPr/>
          <p:nvPr/>
        </p:nvSpPr>
        <p:spPr>
          <a:xfrm>
            <a:off x="9646920" y="1929384"/>
            <a:ext cx="1143000" cy="3200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1" i="0" u="none" strike="noStrike" kern="1200" cap="none" spc="0" baseline="0">
                <a:solidFill>
                  <a:srgbClr val="FFFFFF"/>
                </a:solidFill>
                <a:uFillTx/>
                <a:latin typeface="Aptos"/>
              </a:rPr>
              <a:t>Priorisation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C5236DDC-A62F-9A39-8331-5DB57552B88F}"/>
              </a:ext>
            </a:extLst>
          </p:cNvPr>
          <p:cNvSpPr/>
          <p:nvPr/>
        </p:nvSpPr>
        <p:spPr>
          <a:xfrm>
            <a:off x="9299448" y="2258568"/>
            <a:ext cx="0" cy="338328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4">
                <a:pos x="f34" y="f34"/>
              </a:cxn>
              <a:cxn ang="f25">
                <a:pos x="f35" y="f36"/>
              </a:cxn>
            </a:cxnLst>
            <a:rect l="f31" t="f31" r="f32" b="f33"/>
            <a:pathLst>
              <a:path>
                <a:moveTo>
                  <a:pt x="f34" y="f34"/>
                </a:moveTo>
                <a:lnTo>
                  <a:pt x="f35" y="f36"/>
                </a:lnTo>
              </a:path>
            </a:pathLst>
          </a:custGeom>
          <a:noFill/>
          <a:ln w="25402" cap="flat">
            <a:solidFill>
              <a:srgbClr val="526270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AC8B6D35-350D-4E98-5976-D28C460EC369}"/>
              </a:ext>
            </a:extLst>
          </p:cNvPr>
          <p:cNvSpPr/>
          <p:nvPr/>
        </p:nvSpPr>
        <p:spPr>
          <a:xfrm>
            <a:off x="9144000" y="2596896"/>
            <a:ext cx="320040" cy="320040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526270"/>
          </a:solidFill>
          <a:ln w="12701" cap="flat">
            <a:solidFill>
              <a:srgbClr val="526270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75BF9EFB-B88F-EE2B-1AFF-8CE8ADF5BAC6}"/>
              </a:ext>
            </a:extLst>
          </p:cNvPr>
          <p:cNvSpPr/>
          <p:nvPr/>
        </p:nvSpPr>
        <p:spPr>
          <a:xfrm>
            <a:off x="9646920" y="2587751"/>
            <a:ext cx="1143000" cy="3200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0" i="0" u="none" strike="noStrike" kern="1200" cap="none" spc="0" baseline="0">
                <a:solidFill>
                  <a:srgbClr val="FFFFFF"/>
                </a:solidFill>
                <a:uFillTx/>
                <a:latin typeface="Aptos"/>
              </a:rPr>
              <a:t>Développement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69FC7B26-CEAE-6AA1-4F29-88128C2962C1}"/>
              </a:ext>
            </a:extLst>
          </p:cNvPr>
          <p:cNvSpPr/>
          <p:nvPr/>
        </p:nvSpPr>
        <p:spPr>
          <a:xfrm>
            <a:off x="9299448" y="2916936"/>
            <a:ext cx="0" cy="338328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4">
                <a:pos x="f34" y="f34"/>
              </a:cxn>
              <a:cxn ang="f25">
                <a:pos x="f35" y="f36"/>
              </a:cxn>
            </a:cxnLst>
            <a:rect l="f31" t="f31" r="f32" b="f33"/>
            <a:pathLst>
              <a:path>
                <a:moveTo>
                  <a:pt x="f34" y="f34"/>
                </a:moveTo>
                <a:lnTo>
                  <a:pt x="f35" y="f36"/>
                </a:lnTo>
              </a:path>
            </a:pathLst>
          </a:custGeom>
          <a:noFill/>
          <a:ln w="25402" cap="flat">
            <a:solidFill>
              <a:srgbClr val="526270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719061B3-FB49-FD9B-0C8D-FCC32F4831FC}"/>
              </a:ext>
            </a:extLst>
          </p:cNvPr>
          <p:cNvSpPr/>
          <p:nvPr/>
        </p:nvSpPr>
        <p:spPr>
          <a:xfrm>
            <a:off x="9144000" y="3255264"/>
            <a:ext cx="320040" cy="320040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526270"/>
          </a:solidFill>
          <a:ln w="12701" cap="flat">
            <a:solidFill>
              <a:srgbClr val="526270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9A60B026-221B-7399-9A2D-3A4D79458C22}"/>
              </a:ext>
            </a:extLst>
          </p:cNvPr>
          <p:cNvSpPr/>
          <p:nvPr/>
        </p:nvSpPr>
        <p:spPr>
          <a:xfrm>
            <a:off x="9646920" y="3246120"/>
            <a:ext cx="1143000" cy="3200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0" i="0" u="none" strike="noStrike" kern="1200" cap="none" spc="0" baseline="0">
                <a:solidFill>
                  <a:srgbClr val="FFFFFF"/>
                </a:solidFill>
                <a:uFillTx/>
                <a:latin typeface="Aptos"/>
              </a:rPr>
              <a:t>Tests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C1EC6D50-31B6-E3CA-B1A8-10EC083BC5A3}"/>
              </a:ext>
            </a:extLst>
          </p:cNvPr>
          <p:cNvSpPr/>
          <p:nvPr/>
        </p:nvSpPr>
        <p:spPr>
          <a:xfrm>
            <a:off x="9299448" y="3575303"/>
            <a:ext cx="0" cy="338328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4">
                <a:pos x="f34" y="f34"/>
              </a:cxn>
              <a:cxn ang="f25">
                <a:pos x="f35" y="f36"/>
              </a:cxn>
            </a:cxnLst>
            <a:rect l="f31" t="f31" r="f32" b="f33"/>
            <a:pathLst>
              <a:path>
                <a:moveTo>
                  <a:pt x="f34" y="f34"/>
                </a:moveTo>
                <a:lnTo>
                  <a:pt x="f35" y="f36"/>
                </a:lnTo>
              </a:path>
            </a:pathLst>
          </a:custGeom>
          <a:noFill/>
          <a:ln w="25402" cap="flat">
            <a:solidFill>
              <a:srgbClr val="526270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2C689B52-F1C7-D351-3F7A-2B7CBAFEFE04}"/>
              </a:ext>
            </a:extLst>
          </p:cNvPr>
          <p:cNvSpPr/>
          <p:nvPr/>
        </p:nvSpPr>
        <p:spPr>
          <a:xfrm>
            <a:off x="9144000" y="3913632"/>
            <a:ext cx="320040" cy="320040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526270"/>
          </a:solidFill>
          <a:ln w="12701" cap="flat">
            <a:solidFill>
              <a:srgbClr val="526270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66BACBA1-5BC0-43D8-4154-9AF7E92E800F}"/>
              </a:ext>
            </a:extLst>
          </p:cNvPr>
          <p:cNvSpPr/>
          <p:nvPr/>
        </p:nvSpPr>
        <p:spPr>
          <a:xfrm>
            <a:off x="9646920" y="3904488"/>
            <a:ext cx="1143000" cy="3200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0" i="0" u="none" strike="noStrike" kern="1200" cap="none" spc="0" baseline="0">
                <a:solidFill>
                  <a:srgbClr val="FFFFFF"/>
                </a:solidFill>
                <a:uFillTx/>
                <a:latin typeface="Aptos"/>
              </a:rPr>
              <a:t>Go Live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2C4FBEFC-D19F-AD1F-616B-1AD6589E212B}"/>
              </a:ext>
            </a:extLst>
          </p:cNvPr>
          <p:cNvSpPr/>
          <p:nvPr/>
        </p:nvSpPr>
        <p:spPr>
          <a:xfrm>
            <a:off x="9299448" y="4233672"/>
            <a:ext cx="0" cy="338328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4">
                <a:pos x="f34" y="f34"/>
              </a:cxn>
              <a:cxn ang="f25">
                <a:pos x="f35" y="f36"/>
              </a:cxn>
            </a:cxnLst>
            <a:rect l="f31" t="f31" r="f32" b="f33"/>
            <a:pathLst>
              <a:path>
                <a:moveTo>
                  <a:pt x="f34" y="f34"/>
                </a:moveTo>
                <a:lnTo>
                  <a:pt x="f35" y="f36"/>
                </a:lnTo>
              </a:path>
            </a:pathLst>
          </a:custGeom>
          <a:noFill/>
          <a:ln w="25402" cap="flat">
            <a:solidFill>
              <a:srgbClr val="526270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7517D1F4-5D6D-1A9F-7F19-35EC4EAC7DA5}"/>
              </a:ext>
            </a:extLst>
          </p:cNvPr>
          <p:cNvSpPr/>
          <p:nvPr/>
        </p:nvSpPr>
        <p:spPr>
          <a:xfrm>
            <a:off x="9144000" y="4572000"/>
            <a:ext cx="320040" cy="320040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526270"/>
          </a:solidFill>
          <a:ln w="12701" cap="flat">
            <a:solidFill>
              <a:srgbClr val="526270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82B45E12-1E8D-C2BA-F3EE-E70B7AA147CD}"/>
              </a:ext>
            </a:extLst>
          </p:cNvPr>
          <p:cNvSpPr/>
          <p:nvPr/>
        </p:nvSpPr>
        <p:spPr>
          <a:xfrm>
            <a:off x="9646920" y="4562856"/>
            <a:ext cx="1143000" cy="3200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0" i="0" u="none" strike="noStrike" kern="1200" cap="none" spc="0" baseline="0">
                <a:solidFill>
                  <a:srgbClr val="FFFFFF"/>
                </a:solidFill>
                <a:uFillTx/>
                <a:latin typeface="Aptos"/>
              </a:rPr>
              <a:t>Support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625D801E-3B1A-D9E2-8BBF-A0BA274E992B}"/>
              </a:ext>
            </a:extLst>
          </p:cNvPr>
          <p:cNvSpPr/>
          <p:nvPr/>
        </p:nvSpPr>
        <p:spPr>
          <a:xfrm>
            <a:off x="713232" y="5897880"/>
            <a:ext cx="5303520" cy="2743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0" i="0" u="none" strike="noStrike" kern="1200" cap="none" spc="0" baseline="0">
                <a:solidFill>
                  <a:srgbClr val="B9C3CC"/>
                </a:solidFill>
                <a:uFillTx/>
                <a:latin typeface="Aptos"/>
              </a:rPr>
              <a:t>Propriétaire proposé : Head of IT - Digitalisation</a:t>
            </a:r>
            <a:endParaRPr lang="en-US" sz="11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00CEF779-D8D3-95F5-7C30-B341BC45D0B2}"/>
              </a:ext>
            </a:extLst>
          </p:cNvPr>
          <p:cNvSpPr/>
          <p:nvPr/>
        </p:nvSpPr>
        <p:spPr>
          <a:xfrm>
            <a:off x="713232" y="6217920"/>
            <a:ext cx="2743200" cy="2743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0" i="0" u="none" strike="noStrike" kern="1200" cap="none" spc="0" baseline="0">
                <a:solidFill>
                  <a:srgbClr val="B9C3CC"/>
                </a:solidFill>
                <a:uFillTx/>
                <a:latin typeface="Aptos"/>
              </a:rPr>
              <a:t>Date limite : À confirmer</a:t>
            </a:r>
            <a:endParaRPr lang="en-US" sz="11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5" name="Slide Number Placeholder 0">
            <a:extLst>
              <a:ext uri="{FF2B5EF4-FFF2-40B4-BE49-F238E27FC236}">
                <a16:creationId xmlns:a16="http://schemas.microsoft.com/office/drawing/2014/main" id="{526DF2CD-7446-0F24-4C28-7A2D10CC3C26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6E560E6B-090C-48FB-AA93-D636619286A6}" type="slidenum"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FE3BB72-E9FF-2B6A-50C2-F31FB4E6796A}"/>
              </a:ext>
            </a:extLst>
          </p:cNvPr>
          <p:cNvSpPr/>
          <p:nvPr/>
        </p:nvSpPr>
        <p:spPr>
          <a:xfrm>
            <a:off x="530352" y="621792"/>
            <a:ext cx="2743200" cy="2286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00" b="1" i="0" u="none" strike="noStrike" kern="0" cap="none" spc="120" baseline="0">
                <a:solidFill>
                  <a:srgbClr val="84BD00"/>
                </a:solidFill>
                <a:uFillTx/>
                <a:latin typeface="Aptos"/>
              </a:rPr>
              <a:t>SITUATION ACTUELLE</a:t>
            </a:r>
            <a:endParaRPr lang="en-US" sz="10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96E67BF-AD2C-AA0B-C771-5A8B29537DA0}"/>
              </a:ext>
            </a:extLst>
          </p:cNvPr>
          <p:cNvSpPr/>
          <p:nvPr/>
        </p:nvSpPr>
        <p:spPr>
          <a:xfrm>
            <a:off x="502920" y="877824"/>
            <a:ext cx="10972800" cy="56692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700" b="1" i="0" u="none" strike="noStrike" kern="1200" cap="none" spc="0" baseline="0">
                <a:solidFill>
                  <a:srgbClr val="17212B"/>
                </a:solidFill>
                <a:uFillTx/>
                <a:latin typeface="Aptos"/>
              </a:rPr>
              <a:t>Un suivi riche, mais fragmenté et difficile à piloter</a:t>
            </a:r>
            <a:endParaRPr lang="en-US" sz="27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7F9250B-23EA-5E90-F2D5-279BB932FA18}"/>
              </a:ext>
            </a:extLst>
          </p:cNvPr>
          <p:cNvSpPr/>
          <p:nvPr/>
        </p:nvSpPr>
        <p:spPr>
          <a:xfrm>
            <a:off x="530352" y="1481328"/>
            <a:ext cx="10789920" cy="34747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50" b="0" i="0" u="none" strike="noStrike" kern="1200" cap="none" spc="0" baseline="0">
                <a:solidFill>
                  <a:srgbClr val="5D6773"/>
                </a:solidFill>
                <a:uFillTx/>
                <a:latin typeface="Aptos"/>
              </a:rPr>
              <a:t>Le portefeuille DIG est aujourd’hui principalement suivi dans un fichier Excel centralisé.</a:t>
            </a:r>
            <a:endParaRPr lang="en-US" sz="125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7457514-D6EF-2A18-5113-3599D4A844B3}"/>
              </a:ext>
            </a:extLst>
          </p:cNvPr>
          <p:cNvSpPr/>
          <p:nvPr/>
        </p:nvSpPr>
        <p:spPr>
          <a:xfrm>
            <a:off x="530352" y="1965960"/>
            <a:ext cx="3520439" cy="2514600"/>
          </a:xfrm>
          <a:custGeom>
            <a:avLst>
              <a:gd name="f0" fmla="val 471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FFFFF"/>
          </a:solidFill>
          <a:ln w="12701" cap="flat">
            <a:solidFill>
              <a:srgbClr val="E2E6EA"/>
            </a:solidFill>
            <a:prstDash val="solid"/>
            <a:miter/>
          </a:ln>
          <a:effectLst>
            <a:outerShdw dist="8883" dir="2700000" algn="tl">
              <a:srgbClr val="000000">
                <a:alpha val="12000"/>
              </a:srgbClr>
            </a:outerShdw>
          </a:effec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F58E14D3-C2D0-443B-655E-C5937A3C4571}"/>
              </a:ext>
            </a:extLst>
          </p:cNvPr>
          <p:cNvSpPr/>
          <p:nvPr/>
        </p:nvSpPr>
        <p:spPr>
          <a:xfrm>
            <a:off x="530352" y="1965960"/>
            <a:ext cx="73152" cy="2514600"/>
          </a:xfrm>
          <a:prstGeom prst="rect">
            <a:avLst/>
          </a:prstGeom>
          <a:solidFill>
            <a:srgbClr val="2F80ED"/>
          </a:solidFill>
          <a:ln w="12701" cap="flat">
            <a:solidFill>
              <a:srgbClr val="2F80ED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0397CDE-B90E-D257-1DB5-7F01C44D642E}"/>
              </a:ext>
            </a:extLst>
          </p:cNvPr>
          <p:cNvSpPr/>
          <p:nvPr/>
        </p:nvSpPr>
        <p:spPr>
          <a:xfrm>
            <a:off x="758952" y="2130551"/>
            <a:ext cx="3108960" cy="29260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500" b="1" i="0" u="none" strike="noStrike" kern="1200" cap="none" spc="0" baseline="0">
                <a:solidFill>
                  <a:srgbClr val="17212B"/>
                </a:solidFill>
                <a:uFillTx/>
                <a:latin typeface="Aptos"/>
              </a:rPr>
              <a:t>Outil actuel</a:t>
            </a:r>
            <a:endParaRPr lang="en-US" sz="15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2BB479F6-46E1-0C6F-53E4-8100F163CDAC}"/>
              </a:ext>
            </a:extLst>
          </p:cNvPr>
          <p:cNvSpPr/>
          <p:nvPr/>
        </p:nvSpPr>
        <p:spPr>
          <a:xfrm>
            <a:off x="758952" y="2532888"/>
            <a:ext cx="3108960" cy="178308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384" tIns="384" rIns="384" bIns="384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0" i="0" u="none" strike="noStrike" kern="1200" cap="none" spc="0" baseline="0">
                <a:solidFill>
                  <a:srgbClr val="5D6773"/>
                </a:solidFill>
                <a:uFillTx/>
                <a:latin typeface="Aptos"/>
              </a:rPr>
              <a:t>• Fichier Excel centralisé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0" i="0" u="none" strike="noStrike" kern="1200" cap="none" spc="0" baseline="0">
                <a:solidFill>
                  <a:srgbClr val="5D6773"/>
                </a:solidFill>
                <a:uFillTx/>
                <a:latin typeface="Aptos"/>
              </a:rPr>
              <a:t>• Plusieurs centaines de projets et RFC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0" i="0" u="none" strike="noStrike" kern="1200" cap="none" spc="0" baseline="0">
                <a:solidFill>
                  <a:srgbClr val="5D6773"/>
                </a:solidFill>
                <a:uFillTx/>
                <a:latin typeface="Aptos"/>
              </a:rPr>
              <a:t>• Entités CF, SG et CRE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0" i="0" u="none" strike="noStrike" kern="1200" cap="none" spc="0" baseline="0">
                <a:solidFill>
                  <a:srgbClr val="5D6773"/>
                </a:solidFill>
                <a:uFillTx/>
                <a:latin typeface="Aptos"/>
              </a:rPr>
              <a:t>• Historique et commentaires intégrés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7A6BE8BE-3B7B-155F-0BAF-A9D1555D01C5}"/>
              </a:ext>
            </a:extLst>
          </p:cNvPr>
          <p:cNvSpPr/>
          <p:nvPr/>
        </p:nvSpPr>
        <p:spPr>
          <a:xfrm>
            <a:off x="4325112" y="1965960"/>
            <a:ext cx="3520439" cy="2514600"/>
          </a:xfrm>
          <a:custGeom>
            <a:avLst>
              <a:gd name="f0" fmla="val 471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FFFFF"/>
          </a:solidFill>
          <a:ln w="12701" cap="flat">
            <a:solidFill>
              <a:srgbClr val="E2E6EA"/>
            </a:solidFill>
            <a:prstDash val="solid"/>
            <a:miter/>
          </a:ln>
          <a:effectLst>
            <a:outerShdw dist="8883" dir="2700000" algn="tl">
              <a:srgbClr val="000000">
                <a:alpha val="12000"/>
              </a:srgbClr>
            </a:outerShdw>
          </a:effec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8E98C5FD-7A83-9E6D-37CE-97CB32063B2F}"/>
              </a:ext>
            </a:extLst>
          </p:cNvPr>
          <p:cNvSpPr/>
          <p:nvPr/>
        </p:nvSpPr>
        <p:spPr>
          <a:xfrm>
            <a:off x="4325112" y="1965960"/>
            <a:ext cx="73152" cy="2514600"/>
          </a:xfrm>
          <a:prstGeom prst="rect">
            <a:avLst/>
          </a:prstGeom>
          <a:solidFill>
            <a:srgbClr val="F5A623"/>
          </a:solidFill>
          <a:ln w="12701" cap="flat">
            <a:solidFill>
              <a:srgbClr val="F5A623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2C21DEA1-1397-4281-07B1-A3D1BAC59252}"/>
              </a:ext>
            </a:extLst>
          </p:cNvPr>
          <p:cNvSpPr/>
          <p:nvPr/>
        </p:nvSpPr>
        <p:spPr>
          <a:xfrm>
            <a:off x="4553712" y="2130551"/>
            <a:ext cx="3108960" cy="29260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500" b="1" i="0" u="none" strike="noStrike" kern="1200" cap="none" spc="0" baseline="0">
                <a:solidFill>
                  <a:srgbClr val="17212B"/>
                </a:solidFill>
                <a:uFillTx/>
                <a:latin typeface="Aptos"/>
              </a:rPr>
              <a:t>Données suivies</a:t>
            </a:r>
            <a:endParaRPr lang="en-US" sz="15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64E3D6E9-C529-CC65-C18A-B1E622380B86}"/>
              </a:ext>
            </a:extLst>
          </p:cNvPr>
          <p:cNvSpPr/>
          <p:nvPr/>
        </p:nvSpPr>
        <p:spPr>
          <a:xfrm>
            <a:off x="4553712" y="2532888"/>
            <a:ext cx="3108960" cy="178308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384" tIns="384" rIns="384" bIns="384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0" i="0" u="none" strike="noStrike" kern="1200" cap="none" spc="0" baseline="0">
                <a:solidFill>
                  <a:srgbClr val="5D6773"/>
                </a:solidFill>
                <a:uFillTx/>
                <a:latin typeface="Aptos"/>
              </a:rPr>
              <a:t>• Ticket et référence projet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0" i="0" u="none" strike="noStrike" kern="1200" cap="none" spc="0" baseline="0">
                <a:solidFill>
                  <a:srgbClr val="5D6773"/>
                </a:solidFill>
                <a:uFillTx/>
                <a:latin typeface="Aptos"/>
              </a:rPr>
              <a:t>• Priorité, statut et avancement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0" i="0" u="none" strike="noStrike" kern="1200" cap="none" spc="0" baseline="0">
                <a:solidFill>
                  <a:srgbClr val="5D6773"/>
                </a:solidFill>
                <a:uFillTx/>
                <a:latin typeface="Aptos"/>
              </a:rPr>
              <a:t>• Chef de projet et Power User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0" i="0" u="none" strike="noStrike" kern="1200" cap="none" spc="0" baseline="0">
                <a:solidFill>
                  <a:srgbClr val="5D6773"/>
                </a:solidFill>
                <a:uFillTx/>
                <a:latin typeface="Aptos"/>
              </a:rPr>
              <a:t>• Deadline et historique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D6952EAE-D4A5-315A-5019-195F85353E57}"/>
              </a:ext>
            </a:extLst>
          </p:cNvPr>
          <p:cNvSpPr/>
          <p:nvPr/>
        </p:nvSpPr>
        <p:spPr>
          <a:xfrm>
            <a:off x="8119872" y="1965960"/>
            <a:ext cx="3520439" cy="2514600"/>
          </a:xfrm>
          <a:custGeom>
            <a:avLst>
              <a:gd name="f0" fmla="val 471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FFFFF"/>
          </a:solidFill>
          <a:ln w="12701" cap="flat">
            <a:solidFill>
              <a:srgbClr val="E2E6EA"/>
            </a:solidFill>
            <a:prstDash val="solid"/>
            <a:miter/>
          </a:ln>
          <a:effectLst>
            <a:outerShdw dist="8883" dir="2700000" algn="tl">
              <a:srgbClr val="000000">
                <a:alpha val="12000"/>
              </a:srgbClr>
            </a:outerShdw>
          </a:effec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3490392F-7F57-3DED-6AAB-4D88F668E1ED}"/>
              </a:ext>
            </a:extLst>
          </p:cNvPr>
          <p:cNvSpPr/>
          <p:nvPr/>
        </p:nvSpPr>
        <p:spPr>
          <a:xfrm>
            <a:off x="8119872" y="1965960"/>
            <a:ext cx="73152" cy="2514600"/>
          </a:xfrm>
          <a:prstGeom prst="rect">
            <a:avLst/>
          </a:prstGeom>
          <a:solidFill>
            <a:srgbClr val="D64545"/>
          </a:solidFill>
          <a:ln w="12701" cap="flat">
            <a:solidFill>
              <a:srgbClr val="D64545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0C0AA54E-E5BE-7B00-0F33-3378EC73F3D9}"/>
              </a:ext>
            </a:extLst>
          </p:cNvPr>
          <p:cNvSpPr/>
          <p:nvPr/>
        </p:nvSpPr>
        <p:spPr>
          <a:xfrm>
            <a:off x="8348471" y="2130551"/>
            <a:ext cx="3108960" cy="29260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500" b="1" i="0" u="none" strike="noStrike" kern="1200" cap="none" spc="0" baseline="0">
                <a:solidFill>
                  <a:srgbClr val="17212B"/>
                </a:solidFill>
                <a:uFillTx/>
                <a:latin typeface="Aptos"/>
              </a:rPr>
              <a:t>Limites à traiter</a:t>
            </a:r>
            <a:endParaRPr lang="en-US" sz="15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B9B4D515-1CD0-F8A1-AC9B-1CE2BD38B0A1}"/>
              </a:ext>
            </a:extLst>
          </p:cNvPr>
          <p:cNvSpPr/>
          <p:nvPr/>
        </p:nvSpPr>
        <p:spPr>
          <a:xfrm>
            <a:off x="8348471" y="2532888"/>
            <a:ext cx="3108960" cy="178308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384" tIns="384" rIns="384" bIns="384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0" i="0" u="none" strike="noStrike" kern="1200" cap="none" spc="0" baseline="0">
                <a:solidFill>
                  <a:srgbClr val="5D6773"/>
                </a:solidFill>
                <a:uFillTx/>
                <a:latin typeface="Aptos"/>
              </a:rPr>
              <a:t>• Collaboration temps réel limitée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0" i="0" u="none" strike="noStrike" kern="1200" cap="none" spc="0" baseline="0">
                <a:solidFill>
                  <a:srgbClr val="5D6773"/>
                </a:solidFill>
                <a:uFillTx/>
                <a:latin typeface="Aptos"/>
              </a:rPr>
              <a:t>• Consolidation manuelle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0" i="0" u="none" strike="noStrike" kern="1200" cap="none" spc="0" baseline="0">
                <a:solidFill>
                  <a:srgbClr val="5D6773"/>
                </a:solidFill>
                <a:uFillTx/>
                <a:latin typeface="Aptos"/>
              </a:rPr>
              <a:t>• Visibilité inégale sur les blocages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0" i="0" u="none" strike="noStrike" kern="1200" cap="none" spc="0" baseline="0">
                <a:solidFill>
                  <a:srgbClr val="5D6773"/>
                </a:solidFill>
                <a:uFillTx/>
                <a:latin typeface="Aptos"/>
              </a:rPr>
              <a:t>• Reporting management à produire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0A4020DF-6B29-2E9D-B424-DDEA8FDAB372}"/>
              </a:ext>
            </a:extLst>
          </p:cNvPr>
          <p:cNvSpPr/>
          <p:nvPr/>
        </p:nvSpPr>
        <p:spPr>
          <a:xfrm>
            <a:off x="530352" y="4800600"/>
            <a:ext cx="11109960" cy="1051560"/>
          </a:xfrm>
          <a:custGeom>
            <a:avLst>
              <a:gd name="f0" fmla="val 939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EAF4D4"/>
          </a:solidFill>
          <a:ln w="12701" cap="flat">
            <a:solidFill>
              <a:srgbClr val="CFE4A2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98302A21-6F04-1F74-96C2-31C1BF4E4F87}"/>
              </a:ext>
            </a:extLst>
          </p:cNvPr>
          <p:cNvSpPr/>
          <p:nvPr/>
        </p:nvSpPr>
        <p:spPr>
          <a:xfrm>
            <a:off x="749808" y="5047488"/>
            <a:ext cx="2377440" cy="2286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1" i="0" u="none" strike="noStrike" kern="1200" cap="none" spc="0" baseline="0">
                <a:solidFill>
                  <a:srgbClr val="547800"/>
                </a:solidFill>
                <a:uFillTx/>
                <a:latin typeface="Aptos"/>
              </a:rPr>
              <a:t>RISQUE SI CE N’EST PAS FAIT</a:t>
            </a:r>
            <a:endParaRPr lang="en-US" sz="11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FAA36898-347E-DF99-E204-0BF2F525D7F7}"/>
              </a:ext>
            </a:extLst>
          </p:cNvPr>
          <p:cNvSpPr/>
          <p:nvPr/>
        </p:nvSpPr>
        <p:spPr>
          <a:xfrm>
            <a:off x="3246120" y="4956048"/>
            <a:ext cx="7269480" cy="4572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256" tIns="256" rIns="256" bIns="256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00" b="1" i="0" u="none" strike="noStrike" kern="1200" cap="none" spc="0" baseline="0">
                <a:solidFill>
                  <a:srgbClr val="17212B"/>
                </a:solidFill>
                <a:uFillTx/>
                <a:latin typeface="Aptos"/>
              </a:rPr>
              <a:t>Maintien d’un pilotage dispersé, difficulté à prioriser, manque de visibilité consolidée et retard dans la prise de décision.</a:t>
            </a:r>
            <a:endParaRPr lang="en-US" sz="13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BDA136FC-F394-1A7D-448E-E963F6F39DE3}"/>
              </a:ext>
            </a:extLst>
          </p:cNvPr>
          <p:cNvSpPr/>
          <p:nvPr/>
        </p:nvSpPr>
        <p:spPr>
          <a:xfrm>
            <a:off x="10012680" y="5989320"/>
            <a:ext cx="1417320" cy="310896"/>
          </a:xfrm>
          <a:custGeom>
            <a:avLst>
              <a:gd name="f0" fmla="val 5082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D64545"/>
          </a:solidFill>
          <a:ln w="12701" cap="flat">
            <a:solidFill>
              <a:srgbClr val="D64545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9A63AB13-FCC4-CA36-D0D3-6502AA138A8B}"/>
              </a:ext>
            </a:extLst>
          </p:cNvPr>
          <p:cNvSpPr/>
          <p:nvPr/>
        </p:nvSpPr>
        <p:spPr>
          <a:xfrm>
            <a:off x="10012680" y="5998464"/>
            <a:ext cx="1417320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0" baseline="0">
                <a:solidFill>
                  <a:srgbClr val="FFFFFF"/>
                </a:solidFill>
                <a:uFillTx/>
                <a:latin typeface="Aptos"/>
              </a:rPr>
              <a:t>RISQUE ÉLEVÉ</a:t>
            </a:r>
            <a:endParaRPr lang="en-US" sz="9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2" name="Slide Number Placeholder 0">
            <a:extLst>
              <a:ext uri="{FF2B5EF4-FFF2-40B4-BE49-F238E27FC236}">
                <a16:creationId xmlns:a16="http://schemas.microsoft.com/office/drawing/2014/main" id="{EAACF43D-3A2C-E794-7119-B55419A9B685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ABA4AEAE-EA45-45DE-9AE6-BEDA42AF91C5}" type="slidenum"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1278272-096F-EB4F-1308-AC320F8D8203}"/>
              </a:ext>
            </a:extLst>
          </p:cNvPr>
          <p:cNvSpPr/>
          <p:nvPr/>
        </p:nvSpPr>
        <p:spPr>
          <a:xfrm>
            <a:off x="530352" y="621792"/>
            <a:ext cx="2743200" cy="2286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00" b="1" i="0" u="none" strike="noStrike" kern="0" cap="none" spc="120" baseline="0">
                <a:solidFill>
                  <a:srgbClr val="84BD00"/>
                </a:solidFill>
                <a:uFillTx/>
                <a:latin typeface="Aptos"/>
              </a:rPr>
              <a:t>OBJECTIFS</a:t>
            </a:r>
            <a:endParaRPr lang="en-US" sz="10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D294225-3E98-10F2-E98A-44067EB6A9AE}"/>
              </a:ext>
            </a:extLst>
          </p:cNvPr>
          <p:cNvSpPr/>
          <p:nvPr/>
        </p:nvSpPr>
        <p:spPr>
          <a:xfrm>
            <a:off x="502920" y="877824"/>
            <a:ext cx="10972800" cy="56692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700" b="1" i="0" u="none" strike="noStrike" kern="1200" cap="none" spc="0" baseline="0">
                <a:solidFill>
                  <a:srgbClr val="17212B"/>
                </a:solidFill>
                <a:uFillTx/>
                <a:latin typeface="Aptos"/>
              </a:rPr>
              <a:t>Créer une plateforme PMO Digital unique pour SOCOTA</a:t>
            </a:r>
            <a:endParaRPr lang="en-US" sz="27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7A01DAC-9A30-F4FE-1F61-4742172E70DD}"/>
              </a:ext>
            </a:extLst>
          </p:cNvPr>
          <p:cNvSpPr/>
          <p:nvPr/>
        </p:nvSpPr>
        <p:spPr>
          <a:xfrm>
            <a:off x="530352" y="1481328"/>
            <a:ext cx="10789920" cy="34747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50" b="0" i="0" u="none" strike="noStrike" kern="1200" cap="none" spc="0" baseline="0">
                <a:solidFill>
                  <a:srgbClr val="5D6773"/>
                </a:solidFill>
                <a:uFillTx/>
                <a:latin typeface="Aptos"/>
              </a:rPr>
              <a:t>Remplacer progressivement le suivi Excel par une application Web Intranet collaborative et temps réel.</a:t>
            </a:r>
            <a:endParaRPr lang="en-US" sz="125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0944141-63D6-8046-9FB1-BC7ACF1C05FD}"/>
              </a:ext>
            </a:extLst>
          </p:cNvPr>
          <p:cNvSpPr/>
          <p:nvPr/>
        </p:nvSpPr>
        <p:spPr>
          <a:xfrm>
            <a:off x="530352" y="1901952"/>
            <a:ext cx="2514600" cy="2148839"/>
          </a:xfrm>
          <a:custGeom>
            <a:avLst>
              <a:gd name="f0" fmla="val 551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FFFFF"/>
          </a:solidFill>
          <a:ln w="12701" cap="flat">
            <a:solidFill>
              <a:srgbClr val="E2E6EA"/>
            </a:solidFill>
            <a:prstDash val="solid"/>
            <a:miter/>
          </a:ln>
          <a:effectLst>
            <a:outerShdw dist="8883" dir="2700000" algn="tl">
              <a:srgbClr val="000000">
                <a:alpha val="12000"/>
              </a:srgbClr>
            </a:outerShdw>
          </a:effec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B6A02FC7-BFC0-E5FB-D057-4BF75D27D7E5}"/>
              </a:ext>
            </a:extLst>
          </p:cNvPr>
          <p:cNvSpPr/>
          <p:nvPr/>
        </p:nvSpPr>
        <p:spPr>
          <a:xfrm>
            <a:off x="530352" y="1901952"/>
            <a:ext cx="73152" cy="2148839"/>
          </a:xfrm>
          <a:prstGeom prst="rect">
            <a:avLst/>
          </a:prstGeom>
          <a:solidFill>
            <a:srgbClr val="84BD00"/>
          </a:solidFill>
          <a:ln w="12701" cap="flat">
            <a:solidFill>
              <a:srgbClr val="84BD00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CD81339-0F9B-38D4-871C-33EBE67105D8}"/>
              </a:ext>
            </a:extLst>
          </p:cNvPr>
          <p:cNvSpPr/>
          <p:nvPr/>
        </p:nvSpPr>
        <p:spPr>
          <a:xfrm>
            <a:off x="758952" y="2066544"/>
            <a:ext cx="2103120" cy="29260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500" b="1" i="0" u="none" strike="noStrike" kern="1200" cap="none" spc="0" baseline="0">
                <a:solidFill>
                  <a:srgbClr val="17212B"/>
                </a:solidFill>
                <a:uFillTx/>
                <a:latin typeface="Aptos"/>
              </a:rPr>
              <a:t>Pilotage portefeuille</a:t>
            </a:r>
            <a:endParaRPr lang="en-US" sz="15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FAD5748-1C5D-8D67-2EB4-D0FA3726A743}"/>
              </a:ext>
            </a:extLst>
          </p:cNvPr>
          <p:cNvSpPr/>
          <p:nvPr/>
        </p:nvSpPr>
        <p:spPr>
          <a:xfrm>
            <a:off x="758952" y="2468880"/>
            <a:ext cx="2103120" cy="14173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384" tIns="384" rIns="384" bIns="384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0" i="0" u="none" strike="noStrike" kern="1200" cap="none" spc="0" baseline="0">
                <a:solidFill>
                  <a:srgbClr val="5D6773"/>
                </a:solidFill>
                <a:uFillTx/>
                <a:latin typeface="Aptos"/>
              </a:rPr>
              <a:t>Vues consolidées Groupe, CF, SG et CRE.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6572040C-3C87-2119-9C26-AE921EF9AA8F}"/>
              </a:ext>
            </a:extLst>
          </p:cNvPr>
          <p:cNvSpPr/>
          <p:nvPr/>
        </p:nvSpPr>
        <p:spPr>
          <a:xfrm>
            <a:off x="3319272" y="1901952"/>
            <a:ext cx="2514600" cy="2148839"/>
          </a:xfrm>
          <a:custGeom>
            <a:avLst>
              <a:gd name="f0" fmla="val 551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FFFFF"/>
          </a:solidFill>
          <a:ln w="12701" cap="flat">
            <a:solidFill>
              <a:srgbClr val="E2E6EA"/>
            </a:solidFill>
            <a:prstDash val="solid"/>
            <a:miter/>
          </a:ln>
          <a:effectLst>
            <a:outerShdw dist="8883" dir="2700000" algn="tl">
              <a:srgbClr val="000000">
                <a:alpha val="12000"/>
              </a:srgbClr>
            </a:outerShdw>
          </a:effec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7117B952-0865-C82D-AC75-9EDC2AE42E4F}"/>
              </a:ext>
            </a:extLst>
          </p:cNvPr>
          <p:cNvSpPr/>
          <p:nvPr/>
        </p:nvSpPr>
        <p:spPr>
          <a:xfrm>
            <a:off x="3319272" y="1901952"/>
            <a:ext cx="73152" cy="2148839"/>
          </a:xfrm>
          <a:prstGeom prst="rect">
            <a:avLst/>
          </a:prstGeom>
          <a:solidFill>
            <a:srgbClr val="2F80ED"/>
          </a:solidFill>
          <a:ln w="12701" cap="flat">
            <a:solidFill>
              <a:srgbClr val="2F80ED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1A41FAD2-3B04-9BB1-580D-5C486010F5C9}"/>
              </a:ext>
            </a:extLst>
          </p:cNvPr>
          <p:cNvSpPr/>
          <p:nvPr/>
        </p:nvSpPr>
        <p:spPr>
          <a:xfrm>
            <a:off x="3547872" y="2066544"/>
            <a:ext cx="2103120" cy="29260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500" b="1" i="0" u="none" strike="noStrike" kern="1200" cap="none" spc="0" baseline="0">
                <a:solidFill>
                  <a:srgbClr val="17212B"/>
                </a:solidFill>
                <a:uFillTx/>
                <a:latin typeface="Aptos"/>
              </a:rPr>
              <a:t>Gouvernance</a:t>
            </a:r>
            <a:endParaRPr lang="en-US" sz="15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FDF20803-E6BE-2E96-CE1F-BAAC2A0ECF7B}"/>
              </a:ext>
            </a:extLst>
          </p:cNvPr>
          <p:cNvSpPr/>
          <p:nvPr/>
        </p:nvSpPr>
        <p:spPr>
          <a:xfrm>
            <a:off x="3547872" y="2468880"/>
            <a:ext cx="2103120" cy="14173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384" tIns="384" rIns="384" bIns="384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0" i="0" u="none" strike="noStrike" kern="1200" cap="none" spc="0" baseline="0">
                <a:solidFill>
                  <a:srgbClr val="5D6773"/>
                </a:solidFill>
                <a:uFillTx/>
                <a:latin typeface="Aptos"/>
              </a:rPr>
              <a:t>Centraliser les RFC, prioriser, suivre les charges et identifier les blocages.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222ECECE-AA7E-F6FE-3673-DD13CF8D0422}"/>
              </a:ext>
            </a:extLst>
          </p:cNvPr>
          <p:cNvSpPr/>
          <p:nvPr/>
        </p:nvSpPr>
        <p:spPr>
          <a:xfrm>
            <a:off x="6108192" y="1901952"/>
            <a:ext cx="2514600" cy="2148839"/>
          </a:xfrm>
          <a:custGeom>
            <a:avLst>
              <a:gd name="f0" fmla="val 551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FFFFF"/>
          </a:solidFill>
          <a:ln w="12701" cap="flat">
            <a:solidFill>
              <a:srgbClr val="E2E6EA"/>
            </a:solidFill>
            <a:prstDash val="solid"/>
            <a:miter/>
          </a:ln>
          <a:effectLst>
            <a:outerShdw dist="8883" dir="2700000" algn="tl">
              <a:srgbClr val="000000">
                <a:alpha val="12000"/>
              </a:srgbClr>
            </a:outerShdw>
          </a:effec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71548AE8-BFEC-85D3-7DAC-8B00B28580A1}"/>
              </a:ext>
            </a:extLst>
          </p:cNvPr>
          <p:cNvSpPr/>
          <p:nvPr/>
        </p:nvSpPr>
        <p:spPr>
          <a:xfrm>
            <a:off x="6108192" y="1901952"/>
            <a:ext cx="73152" cy="2148839"/>
          </a:xfrm>
          <a:prstGeom prst="rect">
            <a:avLst/>
          </a:prstGeom>
          <a:solidFill>
            <a:srgbClr val="F5A623"/>
          </a:solidFill>
          <a:ln w="12701" cap="flat">
            <a:solidFill>
              <a:srgbClr val="F5A623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134EF8B7-27A3-5E1C-5775-D1E060E76300}"/>
              </a:ext>
            </a:extLst>
          </p:cNvPr>
          <p:cNvSpPr/>
          <p:nvPr/>
        </p:nvSpPr>
        <p:spPr>
          <a:xfrm>
            <a:off x="6336792" y="2066544"/>
            <a:ext cx="2103120" cy="29260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500" b="1" i="0" u="none" strike="noStrike" kern="1200" cap="none" spc="0" baseline="0">
                <a:solidFill>
                  <a:srgbClr val="17212B"/>
                </a:solidFill>
                <a:uFillTx/>
                <a:latin typeface="Aptos"/>
              </a:rPr>
              <a:t>Reporting</a:t>
            </a:r>
            <a:endParaRPr lang="en-US" sz="15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84A63212-74C6-403E-8F69-3CE8A3082235}"/>
              </a:ext>
            </a:extLst>
          </p:cNvPr>
          <p:cNvSpPr/>
          <p:nvPr/>
        </p:nvSpPr>
        <p:spPr>
          <a:xfrm>
            <a:off x="6336792" y="2468880"/>
            <a:ext cx="2103120" cy="14173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384" tIns="384" rIns="384" bIns="384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0" i="0" u="none" strike="noStrike" kern="1200" cap="none" spc="0" baseline="0">
                <a:solidFill>
                  <a:srgbClr val="5D6773"/>
                </a:solidFill>
                <a:uFillTx/>
                <a:latin typeface="Aptos"/>
              </a:rPr>
              <a:t>Dashboards COMEX, IT Manager et Power User.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3EFC10DC-3E4E-6397-CE89-15C27E05F68B}"/>
              </a:ext>
            </a:extLst>
          </p:cNvPr>
          <p:cNvSpPr/>
          <p:nvPr/>
        </p:nvSpPr>
        <p:spPr>
          <a:xfrm>
            <a:off x="8897111" y="1901952"/>
            <a:ext cx="2514600" cy="2148839"/>
          </a:xfrm>
          <a:custGeom>
            <a:avLst>
              <a:gd name="f0" fmla="val 551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FFFFF"/>
          </a:solidFill>
          <a:ln w="12701" cap="flat">
            <a:solidFill>
              <a:srgbClr val="E2E6EA"/>
            </a:solidFill>
            <a:prstDash val="solid"/>
            <a:miter/>
          </a:ln>
          <a:effectLst>
            <a:outerShdw dist="8883" dir="2700000" algn="tl">
              <a:srgbClr val="000000">
                <a:alpha val="12000"/>
              </a:srgbClr>
            </a:outerShdw>
          </a:effec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353BA8C6-54CE-E15E-F6F5-C300D988BECB}"/>
              </a:ext>
            </a:extLst>
          </p:cNvPr>
          <p:cNvSpPr/>
          <p:nvPr/>
        </p:nvSpPr>
        <p:spPr>
          <a:xfrm>
            <a:off x="8897111" y="1901952"/>
            <a:ext cx="73152" cy="2148839"/>
          </a:xfrm>
          <a:prstGeom prst="rect">
            <a:avLst/>
          </a:prstGeom>
          <a:solidFill>
            <a:srgbClr val="6C63FF"/>
          </a:solidFill>
          <a:ln w="12701" cap="flat">
            <a:solidFill>
              <a:srgbClr val="6C63FF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54DBA064-B6E4-DA0B-1400-5636A85FD8F3}"/>
              </a:ext>
            </a:extLst>
          </p:cNvPr>
          <p:cNvSpPr/>
          <p:nvPr/>
        </p:nvSpPr>
        <p:spPr>
          <a:xfrm>
            <a:off x="9125712" y="2066544"/>
            <a:ext cx="2103120" cy="29260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500" b="1" i="0" u="none" strike="noStrike" kern="1200" cap="none" spc="0" baseline="0">
                <a:solidFill>
                  <a:srgbClr val="17212B"/>
                </a:solidFill>
                <a:uFillTx/>
                <a:latin typeface="Aptos"/>
              </a:rPr>
              <a:t>Collaboration</a:t>
            </a:r>
            <a:endParaRPr lang="en-US" sz="15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82B7D072-7B40-5AAE-3DFC-F354B479BF70}"/>
              </a:ext>
            </a:extLst>
          </p:cNvPr>
          <p:cNvSpPr/>
          <p:nvPr/>
        </p:nvSpPr>
        <p:spPr>
          <a:xfrm>
            <a:off x="9125712" y="2468880"/>
            <a:ext cx="2103120" cy="14173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384" tIns="384" rIns="384" bIns="384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0" i="0" u="none" strike="noStrike" kern="1200" cap="none" spc="0" baseline="0">
                <a:solidFill>
                  <a:srgbClr val="5D6773"/>
                </a:solidFill>
                <a:uFillTx/>
                <a:latin typeface="Aptos"/>
              </a:rPr>
              <a:t>Actions, commentaires, mentions, pièces jointes et notifications.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1909BB29-3E87-A4FB-8043-4BEBB604C348}"/>
              </a:ext>
            </a:extLst>
          </p:cNvPr>
          <p:cNvSpPr/>
          <p:nvPr/>
        </p:nvSpPr>
        <p:spPr>
          <a:xfrm>
            <a:off x="530352" y="4407407"/>
            <a:ext cx="2011680" cy="2743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1" i="0" u="none" strike="noStrike" kern="1200" cap="none" spc="0" baseline="0">
                <a:solidFill>
                  <a:srgbClr val="84BD00"/>
                </a:solidFill>
                <a:uFillTx/>
                <a:latin typeface="Aptos"/>
              </a:rPr>
              <a:t>BUSINESS IMPACT</a:t>
            </a:r>
            <a:endParaRPr lang="en-US" sz="11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C188C881-B429-C229-78B1-043713C2F579}"/>
              </a:ext>
            </a:extLst>
          </p:cNvPr>
          <p:cNvSpPr/>
          <p:nvPr/>
        </p:nvSpPr>
        <p:spPr>
          <a:xfrm>
            <a:off x="530352" y="4736592"/>
            <a:ext cx="2514600" cy="1024128"/>
          </a:xfrm>
          <a:custGeom>
            <a:avLst>
              <a:gd name="f0" fmla="val 964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FFFFF"/>
          </a:solidFill>
          <a:ln w="12701" cap="flat">
            <a:solidFill>
              <a:srgbClr val="D6DBE0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B809DF8A-4B15-4F30-97FB-A336EC671C7F}"/>
              </a:ext>
            </a:extLst>
          </p:cNvPr>
          <p:cNvSpPr/>
          <p:nvPr/>
        </p:nvSpPr>
        <p:spPr>
          <a:xfrm>
            <a:off x="694944" y="4892040"/>
            <a:ext cx="2148839" cy="2286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1200" cap="none" spc="0" baseline="0">
                <a:solidFill>
                  <a:srgbClr val="17212B"/>
                </a:solidFill>
                <a:uFillTx/>
                <a:latin typeface="Aptos"/>
              </a:rPr>
              <a:t>Efficacité</a:t>
            </a: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5C82ACF4-028A-7214-4554-535EB4C11934}"/>
              </a:ext>
            </a:extLst>
          </p:cNvPr>
          <p:cNvSpPr/>
          <p:nvPr/>
        </p:nvSpPr>
        <p:spPr>
          <a:xfrm>
            <a:off x="694944" y="5166359"/>
            <a:ext cx="2148839" cy="38404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30" b="0" i="0" u="none" strike="noStrike" kern="1200" cap="none" spc="0" baseline="0">
                <a:solidFill>
                  <a:srgbClr val="5D6773"/>
                </a:solidFill>
                <a:uFillTx/>
                <a:latin typeface="Aptos"/>
              </a:rPr>
              <a:t>Une source unique et moins de consolidation manuelle</a:t>
            </a:r>
            <a:endParaRPr lang="en-US" sz="103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F01BE5CF-ED5C-6582-06A2-354384680392}"/>
              </a:ext>
            </a:extLst>
          </p:cNvPr>
          <p:cNvSpPr/>
          <p:nvPr/>
        </p:nvSpPr>
        <p:spPr>
          <a:xfrm>
            <a:off x="3319272" y="4736592"/>
            <a:ext cx="2514600" cy="1024128"/>
          </a:xfrm>
          <a:custGeom>
            <a:avLst>
              <a:gd name="f0" fmla="val 964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FFFFF"/>
          </a:solidFill>
          <a:ln w="12701" cap="flat">
            <a:solidFill>
              <a:srgbClr val="D6DBE0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0AA3B501-C8F5-6382-05C4-C75C043EB1DF}"/>
              </a:ext>
            </a:extLst>
          </p:cNvPr>
          <p:cNvSpPr/>
          <p:nvPr/>
        </p:nvSpPr>
        <p:spPr>
          <a:xfrm>
            <a:off x="3483863" y="4892040"/>
            <a:ext cx="2148839" cy="2286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1200" cap="none" spc="0" baseline="0">
                <a:solidFill>
                  <a:srgbClr val="17212B"/>
                </a:solidFill>
                <a:uFillTx/>
                <a:latin typeface="Aptos"/>
              </a:rPr>
              <a:t>Décision</a:t>
            </a: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2EB9336D-427B-1FDD-F33F-A017B293C3AB}"/>
              </a:ext>
            </a:extLst>
          </p:cNvPr>
          <p:cNvSpPr/>
          <p:nvPr/>
        </p:nvSpPr>
        <p:spPr>
          <a:xfrm>
            <a:off x="3483863" y="5166359"/>
            <a:ext cx="2148839" cy="38404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30" b="0" i="0" u="none" strike="noStrike" kern="1200" cap="none" spc="0" baseline="0">
                <a:solidFill>
                  <a:srgbClr val="5D6773"/>
                </a:solidFill>
                <a:uFillTx/>
                <a:latin typeface="Aptos"/>
              </a:rPr>
              <a:t>KPIs et alertes pour prioriser rapidement</a:t>
            </a:r>
            <a:endParaRPr lang="en-US" sz="103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9FAB5753-0C35-9015-7424-AC996B3EDCB0}"/>
              </a:ext>
            </a:extLst>
          </p:cNvPr>
          <p:cNvSpPr/>
          <p:nvPr/>
        </p:nvSpPr>
        <p:spPr>
          <a:xfrm>
            <a:off x="6108192" y="4736592"/>
            <a:ext cx="2514600" cy="1024128"/>
          </a:xfrm>
          <a:custGeom>
            <a:avLst>
              <a:gd name="f0" fmla="val 964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FFFFF"/>
          </a:solidFill>
          <a:ln w="12701" cap="flat">
            <a:solidFill>
              <a:srgbClr val="D6DBE0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3E9CA242-AA2A-FAA4-4F30-9C43549F7BFC}"/>
              </a:ext>
            </a:extLst>
          </p:cNvPr>
          <p:cNvSpPr/>
          <p:nvPr/>
        </p:nvSpPr>
        <p:spPr>
          <a:xfrm>
            <a:off x="6272783" y="4892040"/>
            <a:ext cx="2148839" cy="2286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1200" cap="none" spc="0" baseline="0">
                <a:solidFill>
                  <a:srgbClr val="17212B"/>
                </a:solidFill>
                <a:uFillTx/>
                <a:latin typeface="Aptos"/>
              </a:rPr>
              <a:t>Traçabilité</a:t>
            </a: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4A7F65F2-3938-8555-EB05-E8377AEBEC14}"/>
              </a:ext>
            </a:extLst>
          </p:cNvPr>
          <p:cNvSpPr/>
          <p:nvPr/>
        </p:nvSpPr>
        <p:spPr>
          <a:xfrm>
            <a:off x="6272783" y="5166359"/>
            <a:ext cx="2148839" cy="38404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30" b="0" i="0" u="none" strike="noStrike" kern="1200" cap="none" spc="0" baseline="0">
                <a:solidFill>
                  <a:srgbClr val="5D6773"/>
                </a:solidFill>
                <a:uFillTx/>
                <a:latin typeface="Aptos"/>
              </a:rPr>
              <a:t>Historique complet des projets et changements</a:t>
            </a:r>
            <a:endParaRPr lang="en-US" sz="103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FDF6D18C-B72D-290E-0413-EF95E5985B17}"/>
              </a:ext>
            </a:extLst>
          </p:cNvPr>
          <p:cNvSpPr/>
          <p:nvPr/>
        </p:nvSpPr>
        <p:spPr>
          <a:xfrm>
            <a:off x="8897111" y="4736592"/>
            <a:ext cx="2514600" cy="1024128"/>
          </a:xfrm>
          <a:custGeom>
            <a:avLst>
              <a:gd name="f0" fmla="val 964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FFFFF"/>
          </a:solidFill>
          <a:ln w="12701" cap="flat">
            <a:solidFill>
              <a:srgbClr val="D6DBE0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F528DB08-6718-5309-596D-6C0A778D5DA1}"/>
              </a:ext>
            </a:extLst>
          </p:cNvPr>
          <p:cNvSpPr/>
          <p:nvPr/>
        </p:nvSpPr>
        <p:spPr>
          <a:xfrm>
            <a:off x="9061704" y="4892040"/>
            <a:ext cx="2148839" cy="2286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1200" cap="none" spc="0" baseline="0">
                <a:solidFill>
                  <a:srgbClr val="17212B"/>
                </a:solidFill>
                <a:uFillTx/>
                <a:latin typeface="Aptos"/>
              </a:rPr>
              <a:t>Scalabilité</a:t>
            </a: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E3E59D01-8D7A-EA55-62C0-0EADA3314F96}"/>
              </a:ext>
            </a:extLst>
          </p:cNvPr>
          <p:cNvSpPr/>
          <p:nvPr/>
        </p:nvSpPr>
        <p:spPr>
          <a:xfrm>
            <a:off x="9061704" y="5166359"/>
            <a:ext cx="2148839" cy="38404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30" b="0" i="0" u="none" strike="noStrike" kern="1200" cap="none" spc="0" baseline="0">
                <a:solidFill>
                  <a:srgbClr val="5D6773"/>
                </a:solidFill>
                <a:uFillTx/>
                <a:latin typeface="Aptos"/>
              </a:rPr>
              <a:t>Socle commun pour CF, SG et CRE</a:t>
            </a:r>
            <a:endParaRPr lang="en-US" sz="103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576318D6-CC7C-A109-EA33-960E8576C489}"/>
              </a:ext>
            </a:extLst>
          </p:cNvPr>
          <p:cNvSpPr/>
          <p:nvPr/>
        </p:nvSpPr>
        <p:spPr>
          <a:xfrm>
            <a:off x="530352" y="6035040"/>
            <a:ext cx="1965960" cy="310896"/>
          </a:xfrm>
          <a:custGeom>
            <a:avLst>
              <a:gd name="f0" fmla="val 5082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84BD00"/>
          </a:solidFill>
          <a:ln w="12701" cap="flat">
            <a:solidFill>
              <a:srgbClr val="84BD00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48C0D536-AA62-3B29-CF76-FE61782CBA50}"/>
              </a:ext>
            </a:extLst>
          </p:cNvPr>
          <p:cNvSpPr/>
          <p:nvPr/>
        </p:nvSpPr>
        <p:spPr>
          <a:xfrm>
            <a:off x="530352" y="6044183"/>
            <a:ext cx="1965960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0" baseline="0">
                <a:solidFill>
                  <a:srgbClr val="FFFFFF"/>
                </a:solidFill>
                <a:uFillTx/>
                <a:latin typeface="Aptos"/>
              </a:rPr>
              <a:t>FRÉQUENCE : QUOTIDIENNE</a:t>
            </a:r>
            <a:endParaRPr lang="en-US" sz="9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465F4FF2-CC0B-C077-3F2B-368B679E5454}"/>
              </a:ext>
            </a:extLst>
          </p:cNvPr>
          <p:cNvSpPr/>
          <p:nvPr/>
        </p:nvSpPr>
        <p:spPr>
          <a:xfrm>
            <a:off x="2697479" y="6035040"/>
            <a:ext cx="2240279" cy="310896"/>
          </a:xfrm>
          <a:custGeom>
            <a:avLst>
              <a:gd name="f0" fmla="val 5082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D64545"/>
          </a:solidFill>
          <a:ln w="12701" cap="flat">
            <a:solidFill>
              <a:srgbClr val="D64545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1E42B8DD-0405-51A3-0E2B-7AD80FF428D2}"/>
              </a:ext>
            </a:extLst>
          </p:cNvPr>
          <p:cNvSpPr/>
          <p:nvPr/>
        </p:nvSpPr>
        <p:spPr>
          <a:xfrm>
            <a:off x="2697479" y="6044183"/>
            <a:ext cx="2240279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0" baseline="0">
                <a:solidFill>
                  <a:srgbClr val="FFFFFF"/>
                </a:solidFill>
                <a:uFillTx/>
                <a:latin typeface="Aptos"/>
              </a:rPr>
              <a:t>IMPACT UTILISATEUR : ÉLEVÉ</a:t>
            </a:r>
            <a:endParaRPr lang="en-US" sz="9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8" name="Slide Number Placeholder 0">
            <a:extLst>
              <a:ext uri="{FF2B5EF4-FFF2-40B4-BE49-F238E27FC236}">
                <a16:creationId xmlns:a16="http://schemas.microsoft.com/office/drawing/2014/main" id="{B9AD7D3D-79EC-8E69-0F2A-2791E8B4C1F9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EFA72C15-E8D4-47D3-A121-57B55997D8CA}" type="slidenum"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A31D370-9E44-6631-A645-E9F1D76C7841}"/>
              </a:ext>
            </a:extLst>
          </p:cNvPr>
          <p:cNvSpPr/>
          <p:nvPr/>
        </p:nvSpPr>
        <p:spPr>
          <a:xfrm>
            <a:off x="530352" y="621792"/>
            <a:ext cx="2743200" cy="2286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00" b="1" i="0" u="none" strike="noStrike" kern="0" cap="none" spc="120" baseline="0">
                <a:solidFill>
                  <a:srgbClr val="84BD00"/>
                </a:solidFill>
                <a:uFillTx/>
                <a:latin typeface="Aptos"/>
              </a:rPr>
              <a:t>WORKFLOW AS-IS</a:t>
            </a:r>
            <a:endParaRPr lang="en-US" sz="10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9A04BB6-A4DE-734E-3481-68CB2D0F3B03}"/>
              </a:ext>
            </a:extLst>
          </p:cNvPr>
          <p:cNvSpPr/>
          <p:nvPr/>
        </p:nvSpPr>
        <p:spPr>
          <a:xfrm>
            <a:off x="502920" y="877824"/>
            <a:ext cx="10972800" cy="56692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700" b="1" i="0" u="none" strike="noStrike" kern="1200" cap="none" spc="0" baseline="0">
                <a:solidFill>
                  <a:srgbClr val="17212B"/>
                </a:solidFill>
                <a:uFillTx/>
                <a:latin typeface="Aptos"/>
              </a:rPr>
              <a:t>Processus actuel de suivi des projets DIG</a:t>
            </a:r>
            <a:endParaRPr lang="en-US" sz="27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0C619D1-65CF-0EF0-A1BC-950093D409A3}"/>
              </a:ext>
            </a:extLst>
          </p:cNvPr>
          <p:cNvSpPr/>
          <p:nvPr/>
        </p:nvSpPr>
        <p:spPr>
          <a:xfrm>
            <a:off x="530352" y="1481328"/>
            <a:ext cx="10789920" cy="34747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50" b="0" i="0" u="none" strike="noStrike" kern="1200" cap="none" spc="0" baseline="0">
                <a:solidFill>
                  <a:srgbClr val="5D6773"/>
                </a:solidFill>
                <a:uFillTx/>
                <a:latin typeface="Aptos"/>
              </a:rPr>
              <a:t>Les mises à jour et consolidations reposent principalement sur le fichier Excel et des échanges séparés.</a:t>
            </a:r>
            <a:endParaRPr lang="en-US" sz="125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E640CABB-E5C2-CC4C-3619-17AF7A0469D8}"/>
              </a:ext>
            </a:extLst>
          </p:cNvPr>
          <p:cNvSpPr/>
          <p:nvPr/>
        </p:nvSpPr>
        <p:spPr>
          <a:xfrm>
            <a:off x="640080" y="1965960"/>
            <a:ext cx="2286000" cy="960120"/>
          </a:xfrm>
          <a:custGeom>
            <a:avLst>
              <a:gd name="f0" fmla="val 1029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FFFFF"/>
          </a:solidFill>
          <a:ln w="15243" cap="flat">
            <a:solidFill>
              <a:srgbClr val="D6DBE0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8B87046-5DC5-3640-49BD-9C2B5901B70A}"/>
              </a:ext>
            </a:extLst>
          </p:cNvPr>
          <p:cNvSpPr/>
          <p:nvPr/>
        </p:nvSpPr>
        <p:spPr>
          <a:xfrm>
            <a:off x="777240" y="2176272"/>
            <a:ext cx="2011680" cy="20116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1200" cap="none" spc="0" baseline="0">
                <a:solidFill>
                  <a:srgbClr val="17212B"/>
                </a:solidFill>
                <a:uFillTx/>
                <a:latin typeface="Aptos"/>
              </a:rPr>
              <a:t>Équipes métier</a:t>
            </a: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19B82BB-25A4-DED3-64B2-CFBAAF54D8F7}"/>
              </a:ext>
            </a:extLst>
          </p:cNvPr>
          <p:cNvSpPr/>
          <p:nvPr/>
        </p:nvSpPr>
        <p:spPr>
          <a:xfrm>
            <a:off x="777240" y="2450592"/>
            <a:ext cx="2011680" cy="20116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20" b="0" i="0" u="none" strike="noStrike" kern="1200" cap="none" spc="0" baseline="0">
                <a:solidFill>
                  <a:srgbClr val="5D6773"/>
                </a:solidFill>
                <a:uFillTx/>
                <a:latin typeface="Aptos"/>
              </a:rPr>
              <a:t>Demande / RFC</a:t>
            </a:r>
            <a:endParaRPr lang="en-US" sz="102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75BF9E0A-4C09-DD1E-3828-8ADAF39E7C36}"/>
              </a:ext>
            </a:extLst>
          </p:cNvPr>
          <p:cNvSpPr/>
          <p:nvPr/>
        </p:nvSpPr>
        <p:spPr>
          <a:xfrm>
            <a:off x="2999232" y="2267712"/>
            <a:ext cx="320040" cy="347472"/>
          </a:xfrm>
          <a:custGeom>
            <a:avLst>
              <a:gd name="f8" fmla="val 50000"/>
            </a:avLst>
            <a:gdLst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val 50000"/>
              <a:gd name="f9" fmla="+- 0 0 -360"/>
              <a:gd name="f10" fmla="+- 0 0 -270"/>
              <a:gd name="f11" fmla="+- 0 0 -180"/>
              <a:gd name="f12" fmla="abs f4"/>
              <a:gd name="f13" fmla="abs f5"/>
              <a:gd name="f14" fmla="abs f6"/>
              <a:gd name="f15" fmla="val f7"/>
              <a:gd name="f16" fmla="val f8"/>
              <a:gd name="f17" fmla="*/ f9 f1 1"/>
              <a:gd name="f18" fmla="*/ f10 f1 1"/>
              <a:gd name="f19" fmla="*/ f11 f1 1"/>
              <a:gd name="f20" fmla="?: f12 f4 1"/>
              <a:gd name="f21" fmla="?: f13 f5 1"/>
              <a:gd name="f22" fmla="?: f14 f6 1"/>
              <a:gd name="f23" fmla="*/ f17 1 f3"/>
              <a:gd name="f24" fmla="*/ f18 1 f3"/>
              <a:gd name="f25" fmla="*/ f19 1 f3"/>
              <a:gd name="f26" fmla="*/ f20 1 21600"/>
              <a:gd name="f27" fmla="*/ f21 1 21600"/>
              <a:gd name="f28" fmla="*/ 21600 f20 1"/>
              <a:gd name="f29" fmla="*/ 21600 f21 1"/>
              <a:gd name="f30" fmla="+- f23 0 f2"/>
              <a:gd name="f31" fmla="+- f24 0 f2"/>
              <a:gd name="f32" fmla="+- f25 0 f2"/>
              <a:gd name="f33" fmla="min f27 f26"/>
              <a:gd name="f34" fmla="*/ f28 1 f22"/>
              <a:gd name="f35" fmla="*/ f29 1 f22"/>
              <a:gd name="f36" fmla="val f34"/>
              <a:gd name="f37" fmla="val f35"/>
              <a:gd name="f38" fmla="*/ f15 f33 1"/>
              <a:gd name="f39" fmla="+- f37 0 f15"/>
              <a:gd name="f40" fmla="+- f36 0 f15"/>
              <a:gd name="f41" fmla="*/ f37 f33 1"/>
              <a:gd name="f42" fmla="*/ f36 f33 1"/>
              <a:gd name="f43" fmla="*/ f39 1 2"/>
              <a:gd name="f44" fmla="min f40 f39"/>
              <a:gd name="f45" fmla="+- f15 f43 0"/>
              <a:gd name="f46" fmla="*/ f44 f16 1"/>
              <a:gd name="f47" fmla="*/ f46 1 100000"/>
              <a:gd name="f48" fmla="*/ f45 f33 1"/>
              <a:gd name="f49" fmla="+- f36 0 f47"/>
              <a:gd name="f50" fmla="*/ f47 f33 1"/>
              <a:gd name="f51" fmla="*/ f49 1 2"/>
              <a:gd name="f52" fmla="+- f49 0 f47"/>
              <a:gd name="f53" fmla="*/ f49 f33 1"/>
              <a:gd name="f54" fmla="?: f52 f47 f15"/>
              <a:gd name="f55" fmla="?: f52 f49 f36"/>
              <a:gd name="f56" fmla="*/ f51 f33 1"/>
              <a:gd name="f57" fmla="*/ f54 f33 1"/>
              <a:gd name="f58" fmla="*/ f55 f33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0">
                <a:pos x="f56" y="f38"/>
              </a:cxn>
              <a:cxn ang="f31">
                <a:pos x="f50" y="f48"/>
              </a:cxn>
              <a:cxn ang="f32">
                <a:pos x="f56" y="f41"/>
              </a:cxn>
            </a:cxnLst>
            <a:rect l="f57" t="f38" r="f58" b="f41"/>
            <a:pathLst>
              <a:path>
                <a:moveTo>
                  <a:pt x="f38" y="f38"/>
                </a:moveTo>
                <a:lnTo>
                  <a:pt x="f53" y="f38"/>
                </a:lnTo>
                <a:lnTo>
                  <a:pt x="f42" y="f48"/>
                </a:lnTo>
                <a:lnTo>
                  <a:pt x="f53" y="f41"/>
                </a:lnTo>
                <a:lnTo>
                  <a:pt x="f38" y="f41"/>
                </a:lnTo>
                <a:lnTo>
                  <a:pt x="f50" y="f48"/>
                </a:lnTo>
                <a:close/>
              </a:path>
            </a:pathLst>
          </a:custGeom>
          <a:solidFill>
            <a:srgbClr val="84BD00"/>
          </a:solidFill>
          <a:ln w="12701" cap="flat">
            <a:solidFill>
              <a:srgbClr val="84BD00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B6D91473-F264-509D-94D6-FC817F2448FE}"/>
              </a:ext>
            </a:extLst>
          </p:cNvPr>
          <p:cNvSpPr/>
          <p:nvPr/>
        </p:nvSpPr>
        <p:spPr>
          <a:xfrm>
            <a:off x="3429000" y="1965960"/>
            <a:ext cx="2286000" cy="960120"/>
          </a:xfrm>
          <a:custGeom>
            <a:avLst>
              <a:gd name="f0" fmla="val 1029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EAF4D4"/>
          </a:solidFill>
          <a:ln w="15243" cap="flat">
            <a:solidFill>
              <a:srgbClr val="84BD00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B55CED5D-10D1-3C8A-DC62-7C00A321E471}"/>
              </a:ext>
            </a:extLst>
          </p:cNvPr>
          <p:cNvSpPr/>
          <p:nvPr/>
        </p:nvSpPr>
        <p:spPr>
          <a:xfrm>
            <a:off x="3566160" y="2176272"/>
            <a:ext cx="2011680" cy="20116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1200" cap="none" spc="0" baseline="0">
                <a:solidFill>
                  <a:srgbClr val="17212B"/>
                </a:solidFill>
                <a:uFillTx/>
                <a:latin typeface="Aptos"/>
              </a:rPr>
              <a:t>IT &amp; DIG</a:t>
            </a: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8D39C450-6745-5143-A189-379C21D6610B}"/>
              </a:ext>
            </a:extLst>
          </p:cNvPr>
          <p:cNvSpPr/>
          <p:nvPr/>
        </p:nvSpPr>
        <p:spPr>
          <a:xfrm>
            <a:off x="3566160" y="2450592"/>
            <a:ext cx="2011680" cy="20116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20" b="0" i="0" u="none" strike="noStrike" kern="1200" cap="none" spc="0" baseline="0">
                <a:solidFill>
                  <a:srgbClr val="5D6773"/>
                </a:solidFill>
                <a:uFillTx/>
                <a:latin typeface="Aptos"/>
              </a:rPr>
              <a:t>Saisie et mise à jour Excel</a:t>
            </a:r>
            <a:endParaRPr lang="en-US" sz="102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65491587-E66F-C222-611E-563E07B4BA75}"/>
              </a:ext>
            </a:extLst>
          </p:cNvPr>
          <p:cNvSpPr/>
          <p:nvPr/>
        </p:nvSpPr>
        <p:spPr>
          <a:xfrm>
            <a:off x="5788152" y="2267712"/>
            <a:ext cx="320040" cy="347472"/>
          </a:xfrm>
          <a:custGeom>
            <a:avLst>
              <a:gd name="f8" fmla="val 50000"/>
            </a:avLst>
            <a:gdLst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val 50000"/>
              <a:gd name="f9" fmla="+- 0 0 -360"/>
              <a:gd name="f10" fmla="+- 0 0 -270"/>
              <a:gd name="f11" fmla="+- 0 0 -180"/>
              <a:gd name="f12" fmla="abs f4"/>
              <a:gd name="f13" fmla="abs f5"/>
              <a:gd name="f14" fmla="abs f6"/>
              <a:gd name="f15" fmla="val f7"/>
              <a:gd name="f16" fmla="val f8"/>
              <a:gd name="f17" fmla="*/ f9 f1 1"/>
              <a:gd name="f18" fmla="*/ f10 f1 1"/>
              <a:gd name="f19" fmla="*/ f11 f1 1"/>
              <a:gd name="f20" fmla="?: f12 f4 1"/>
              <a:gd name="f21" fmla="?: f13 f5 1"/>
              <a:gd name="f22" fmla="?: f14 f6 1"/>
              <a:gd name="f23" fmla="*/ f17 1 f3"/>
              <a:gd name="f24" fmla="*/ f18 1 f3"/>
              <a:gd name="f25" fmla="*/ f19 1 f3"/>
              <a:gd name="f26" fmla="*/ f20 1 21600"/>
              <a:gd name="f27" fmla="*/ f21 1 21600"/>
              <a:gd name="f28" fmla="*/ 21600 f20 1"/>
              <a:gd name="f29" fmla="*/ 21600 f21 1"/>
              <a:gd name="f30" fmla="+- f23 0 f2"/>
              <a:gd name="f31" fmla="+- f24 0 f2"/>
              <a:gd name="f32" fmla="+- f25 0 f2"/>
              <a:gd name="f33" fmla="min f27 f26"/>
              <a:gd name="f34" fmla="*/ f28 1 f22"/>
              <a:gd name="f35" fmla="*/ f29 1 f22"/>
              <a:gd name="f36" fmla="val f34"/>
              <a:gd name="f37" fmla="val f35"/>
              <a:gd name="f38" fmla="*/ f15 f33 1"/>
              <a:gd name="f39" fmla="+- f37 0 f15"/>
              <a:gd name="f40" fmla="+- f36 0 f15"/>
              <a:gd name="f41" fmla="*/ f37 f33 1"/>
              <a:gd name="f42" fmla="*/ f36 f33 1"/>
              <a:gd name="f43" fmla="*/ f39 1 2"/>
              <a:gd name="f44" fmla="min f40 f39"/>
              <a:gd name="f45" fmla="+- f15 f43 0"/>
              <a:gd name="f46" fmla="*/ f44 f16 1"/>
              <a:gd name="f47" fmla="*/ f46 1 100000"/>
              <a:gd name="f48" fmla="*/ f45 f33 1"/>
              <a:gd name="f49" fmla="+- f36 0 f47"/>
              <a:gd name="f50" fmla="*/ f47 f33 1"/>
              <a:gd name="f51" fmla="*/ f49 1 2"/>
              <a:gd name="f52" fmla="+- f49 0 f47"/>
              <a:gd name="f53" fmla="*/ f49 f33 1"/>
              <a:gd name="f54" fmla="?: f52 f47 f15"/>
              <a:gd name="f55" fmla="?: f52 f49 f36"/>
              <a:gd name="f56" fmla="*/ f51 f33 1"/>
              <a:gd name="f57" fmla="*/ f54 f33 1"/>
              <a:gd name="f58" fmla="*/ f55 f33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0">
                <a:pos x="f56" y="f38"/>
              </a:cxn>
              <a:cxn ang="f31">
                <a:pos x="f50" y="f48"/>
              </a:cxn>
              <a:cxn ang="f32">
                <a:pos x="f56" y="f41"/>
              </a:cxn>
            </a:cxnLst>
            <a:rect l="f57" t="f38" r="f58" b="f41"/>
            <a:pathLst>
              <a:path>
                <a:moveTo>
                  <a:pt x="f38" y="f38"/>
                </a:moveTo>
                <a:lnTo>
                  <a:pt x="f53" y="f38"/>
                </a:lnTo>
                <a:lnTo>
                  <a:pt x="f42" y="f48"/>
                </a:lnTo>
                <a:lnTo>
                  <a:pt x="f53" y="f41"/>
                </a:lnTo>
                <a:lnTo>
                  <a:pt x="f38" y="f41"/>
                </a:lnTo>
                <a:lnTo>
                  <a:pt x="f50" y="f48"/>
                </a:lnTo>
                <a:close/>
              </a:path>
            </a:pathLst>
          </a:custGeom>
          <a:solidFill>
            <a:srgbClr val="84BD00"/>
          </a:solidFill>
          <a:ln w="12701" cap="flat">
            <a:solidFill>
              <a:srgbClr val="84BD00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A7799D8B-E0F7-004F-EBB2-AAF56E74E3FE}"/>
              </a:ext>
            </a:extLst>
          </p:cNvPr>
          <p:cNvSpPr/>
          <p:nvPr/>
        </p:nvSpPr>
        <p:spPr>
          <a:xfrm>
            <a:off x="6217920" y="1965960"/>
            <a:ext cx="2286000" cy="960120"/>
          </a:xfrm>
          <a:custGeom>
            <a:avLst>
              <a:gd name="f0" fmla="val 1029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FFFFF"/>
          </a:solidFill>
          <a:ln w="15243" cap="flat">
            <a:solidFill>
              <a:srgbClr val="D6DBE0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32C72E62-057B-E8BE-FE7D-311A58C1436C}"/>
              </a:ext>
            </a:extLst>
          </p:cNvPr>
          <p:cNvSpPr/>
          <p:nvPr/>
        </p:nvSpPr>
        <p:spPr>
          <a:xfrm>
            <a:off x="6355080" y="2176272"/>
            <a:ext cx="2011680" cy="20116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1200" cap="none" spc="0" baseline="0">
                <a:solidFill>
                  <a:srgbClr val="17212B"/>
                </a:solidFill>
                <a:uFillTx/>
                <a:latin typeface="Aptos"/>
              </a:rPr>
              <a:t>Chef de projet</a:t>
            </a: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2AEA41EB-0E69-0076-7B45-6F4A23C63001}"/>
              </a:ext>
            </a:extLst>
          </p:cNvPr>
          <p:cNvSpPr/>
          <p:nvPr/>
        </p:nvSpPr>
        <p:spPr>
          <a:xfrm>
            <a:off x="6355080" y="2450592"/>
            <a:ext cx="2011680" cy="20116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20" b="0" i="0" u="none" strike="noStrike" kern="1200" cap="none" spc="0" baseline="0">
                <a:solidFill>
                  <a:srgbClr val="5D6773"/>
                </a:solidFill>
                <a:uFillTx/>
                <a:latin typeface="Aptos"/>
              </a:rPr>
              <a:t>Suivi avancement et commentaires</a:t>
            </a:r>
            <a:endParaRPr lang="en-US" sz="102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9BB66B7C-DAD1-DA28-D07A-ACBE0D0A754C}"/>
              </a:ext>
            </a:extLst>
          </p:cNvPr>
          <p:cNvSpPr/>
          <p:nvPr/>
        </p:nvSpPr>
        <p:spPr>
          <a:xfrm>
            <a:off x="8577072" y="2267712"/>
            <a:ext cx="320040" cy="347472"/>
          </a:xfrm>
          <a:custGeom>
            <a:avLst>
              <a:gd name="f8" fmla="val 50000"/>
            </a:avLst>
            <a:gdLst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val 50000"/>
              <a:gd name="f9" fmla="+- 0 0 -360"/>
              <a:gd name="f10" fmla="+- 0 0 -270"/>
              <a:gd name="f11" fmla="+- 0 0 -180"/>
              <a:gd name="f12" fmla="abs f4"/>
              <a:gd name="f13" fmla="abs f5"/>
              <a:gd name="f14" fmla="abs f6"/>
              <a:gd name="f15" fmla="val f7"/>
              <a:gd name="f16" fmla="val f8"/>
              <a:gd name="f17" fmla="*/ f9 f1 1"/>
              <a:gd name="f18" fmla="*/ f10 f1 1"/>
              <a:gd name="f19" fmla="*/ f11 f1 1"/>
              <a:gd name="f20" fmla="?: f12 f4 1"/>
              <a:gd name="f21" fmla="?: f13 f5 1"/>
              <a:gd name="f22" fmla="?: f14 f6 1"/>
              <a:gd name="f23" fmla="*/ f17 1 f3"/>
              <a:gd name="f24" fmla="*/ f18 1 f3"/>
              <a:gd name="f25" fmla="*/ f19 1 f3"/>
              <a:gd name="f26" fmla="*/ f20 1 21600"/>
              <a:gd name="f27" fmla="*/ f21 1 21600"/>
              <a:gd name="f28" fmla="*/ 21600 f20 1"/>
              <a:gd name="f29" fmla="*/ 21600 f21 1"/>
              <a:gd name="f30" fmla="+- f23 0 f2"/>
              <a:gd name="f31" fmla="+- f24 0 f2"/>
              <a:gd name="f32" fmla="+- f25 0 f2"/>
              <a:gd name="f33" fmla="min f27 f26"/>
              <a:gd name="f34" fmla="*/ f28 1 f22"/>
              <a:gd name="f35" fmla="*/ f29 1 f22"/>
              <a:gd name="f36" fmla="val f34"/>
              <a:gd name="f37" fmla="val f35"/>
              <a:gd name="f38" fmla="*/ f15 f33 1"/>
              <a:gd name="f39" fmla="+- f37 0 f15"/>
              <a:gd name="f40" fmla="+- f36 0 f15"/>
              <a:gd name="f41" fmla="*/ f37 f33 1"/>
              <a:gd name="f42" fmla="*/ f36 f33 1"/>
              <a:gd name="f43" fmla="*/ f39 1 2"/>
              <a:gd name="f44" fmla="min f40 f39"/>
              <a:gd name="f45" fmla="+- f15 f43 0"/>
              <a:gd name="f46" fmla="*/ f44 f16 1"/>
              <a:gd name="f47" fmla="*/ f46 1 100000"/>
              <a:gd name="f48" fmla="*/ f45 f33 1"/>
              <a:gd name="f49" fmla="+- f36 0 f47"/>
              <a:gd name="f50" fmla="*/ f47 f33 1"/>
              <a:gd name="f51" fmla="*/ f49 1 2"/>
              <a:gd name="f52" fmla="+- f49 0 f47"/>
              <a:gd name="f53" fmla="*/ f49 f33 1"/>
              <a:gd name="f54" fmla="?: f52 f47 f15"/>
              <a:gd name="f55" fmla="?: f52 f49 f36"/>
              <a:gd name="f56" fmla="*/ f51 f33 1"/>
              <a:gd name="f57" fmla="*/ f54 f33 1"/>
              <a:gd name="f58" fmla="*/ f55 f33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0">
                <a:pos x="f56" y="f38"/>
              </a:cxn>
              <a:cxn ang="f31">
                <a:pos x="f50" y="f48"/>
              </a:cxn>
              <a:cxn ang="f32">
                <a:pos x="f56" y="f41"/>
              </a:cxn>
            </a:cxnLst>
            <a:rect l="f57" t="f38" r="f58" b="f41"/>
            <a:pathLst>
              <a:path>
                <a:moveTo>
                  <a:pt x="f38" y="f38"/>
                </a:moveTo>
                <a:lnTo>
                  <a:pt x="f53" y="f38"/>
                </a:lnTo>
                <a:lnTo>
                  <a:pt x="f42" y="f48"/>
                </a:lnTo>
                <a:lnTo>
                  <a:pt x="f53" y="f41"/>
                </a:lnTo>
                <a:lnTo>
                  <a:pt x="f38" y="f41"/>
                </a:lnTo>
                <a:lnTo>
                  <a:pt x="f50" y="f48"/>
                </a:lnTo>
                <a:close/>
              </a:path>
            </a:pathLst>
          </a:custGeom>
          <a:solidFill>
            <a:srgbClr val="84BD00"/>
          </a:solidFill>
          <a:ln w="12701" cap="flat">
            <a:solidFill>
              <a:srgbClr val="84BD00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10891A60-51BD-B9D8-DD2C-601AD4B074CA}"/>
              </a:ext>
            </a:extLst>
          </p:cNvPr>
          <p:cNvSpPr/>
          <p:nvPr/>
        </p:nvSpPr>
        <p:spPr>
          <a:xfrm>
            <a:off x="9006840" y="1965960"/>
            <a:ext cx="2286000" cy="960120"/>
          </a:xfrm>
          <a:custGeom>
            <a:avLst>
              <a:gd name="f0" fmla="val 1029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FFFFF"/>
          </a:solidFill>
          <a:ln w="15243" cap="flat">
            <a:solidFill>
              <a:srgbClr val="D6DBE0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E2AD0B03-D5F7-479C-DD95-A96C2E2D1C6D}"/>
              </a:ext>
            </a:extLst>
          </p:cNvPr>
          <p:cNvSpPr/>
          <p:nvPr/>
        </p:nvSpPr>
        <p:spPr>
          <a:xfrm>
            <a:off x="9144000" y="2176272"/>
            <a:ext cx="2011680" cy="20116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1200" cap="none" spc="0" baseline="0">
                <a:solidFill>
                  <a:srgbClr val="17212B"/>
                </a:solidFill>
                <a:uFillTx/>
                <a:latin typeface="Aptos"/>
              </a:rPr>
              <a:t>Management</a:t>
            </a: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9C6BDC04-2074-3409-A613-B59032618A20}"/>
              </a:ext>
            </a:extLst>
          </p:cNvPr>
          <p:cNvSpPr/>
          <p:nvPr/>
        </p:nvSpPr>
        <p:spPr>
          <a:xfrm>
            <a:off x="9144000" y="2450592"/>
            <a:ext cx="2011680" cy="20116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20" b="0" i="0" u="none" strike="noStrike" kern="1200" cap="none" spc="0" baseline="0">
                <a:solidFill>
                  <a:srgbClr val="5D6773"/>
                </a:solidFill>
                <a:uFillTx/>
                <a:latin typeface="Aptos"/>
              </a:rPr>
              <a:t>Consolidation et reporting</a:t>
            </a:r>
            <a:endParaRPr lang="en-US" sz="102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DEB55EA3-91F6-5292-A0C3-A06EBFAFD3E2}"/>
              </a:ext>
            </a:extLst>
          </p:cNvPr>
          <p:cNvSpPr/>
          <p:nvPr/>
        </p:nvSpPr>
        <p:spPr>
          <a:xfrm>
            <a:off x="640080" y="3337560"/>
            <a:ext cx="2286000" cy="2743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b="1" i="0" u="none" strike="noStrike" kern="1200" cap="none" spc="0" baseline="0">
                <a:solidFill>
                  <a:srgbClr val="17212B"/>
                </a:solidFill>
                <a:uFillTx/>
                <a:latin typeface="Aptos"/>
              </a:rPr>
              <a:t>Points de friction</a:t>
            </a:r>
            <a:endParaRPr lang="en-US" sz="16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CDA58744-2802-C3F8-D83A-C1F8D8558E1B}"/>
              </a:ext>
            </a:extLst>
          </p:cNvPr>
          <p:cNvSpPr/>
          <p:nvPr/>
        </p:nvSpPr>
        <p:spPr>
          <a:xfrm>
            <a:off x="685800" y="3822191"/>
            <a:ext cx="146304" cy="146304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D64545"/>
          </a:solidFill>
          <a:ln w="12701" cap="flat">
            <a:solidFill>
              <a:srgbClr val="D64545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3EE46CD5-EF87-396D-B1B6-9238DC76639D}"/>
              </a:ext>
            </a:extLst>
          </p:cNvPr>
          <p:cNvSpPr/>
          <p:nvPr/>
        </p:nvSpPr>
        <p:spPr>
          <a:xfrm>
            <a:off x="941832" y="3794759"/>
            <a:ext cx="3749039" cy="2286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0" i="0" u="none" strike="noStrike" kern="1200" cap="none" spc="0" baseline="0">
                <a:solidFill>
                  <a:srgbClr val="5D6773"/>
                </a:solidFill>
                <a:uFillTx/>
                <a:latin typeface="Aptos"/>
              </a:rPr>
              <a:t>Mises à jour manuelles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342F0AE9-7F94-8C46-622A-0B9AE0BD93D6}"/>
              </a:ext>
            </a:extLst>
          </p:cNvPr>
          <p:cNvSpPr/>
          <p:nvPr/>
        </p:nvSpPr>
        <p:spPr>
          <a:xfrm>
            <a:off x="685800" y="4242816"/>
            <a:ext cx="146304" cy="146304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D64545"/>
          </a:solidFill>
          <a:ln w="12701" cap="flat">
            <a:solidFill>
              <a:srgbClr val="D64545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3CE0F9E6-FA81-8A61-D9AC-5C082ACCCDF4}"/>
              </a:ext>
            </a:extLst>
          </p:cNvPr>
          <p:cNvSpPr/>
          <p:nvPr/>
        </p:nvSpPr>
        <p:spPr>
          <a:xfrm>
            <a:off x="941832" y="4215383"/>
            <a:ext cx="3749039" cy="2286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0" i="0" u="none" strike="noStrike" kern="1200" cap="none" spc="0" baseline="0">
                <a:solidFill>
                  <a:srgbClr val="5D6773"/>
                </a:solidFill>
                <a:uFillTx/>
                <a:latin typeface="Aptos"/>
              </a:rPr>
              <a:t>Informations dispersées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6CA91F59-579C-F780-9981-1FF78016D425}"/>
              </a:ext>
            </a:extLst>
          </p:cNvPr>
          <p:cNvSpPr/>
          <p:nvPr/>
        </p:nvSpPr>
        <p:spPr>
          <a:xfrm>
            <a:off x="685800" y="4663440"/>
            <a:ext cx="146304" cy="146304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D64545"/>
          </a:solidFill>
          <a:ln w="12701" cap="flat">
            <a:solidFill>
              <a:srgbClr val="D64545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5EE8F411-B92A-077A-2D81-BF5726A3E121}"/>
              </a:ext>
            </a:extLst>
          </p:cNvPr>
          <p:cNvSpPr/>
          <p:nvPr/>
        </p:nvSpPr>
        <p:spPr>
          <a:xfrm>
            <a:off x="941832" y="4636008"/>
            <a:ext cx="3749039" cy="2286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0" i="0" u="none" strike="noStrike" kern="1200" cap="none" spc="0" baseline="0">
                <a:solidFill>
                  <a:srgbClr val="5D6773"/>
                </a:solidFill>
                <a:uFillTx/>
                <a:latin typeface="Aptos"/>
              </a:rPr>
              <a:t>Alertes non systématiques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C4EFF0F7-162A-3032-97F7-50491F33BDD6}"/>
              </a:ext>
            </a:extLst>
          </p:cNvPr>
          <p:cNvSpPr/>
          <p:nvPr/>
        </p:nvSpPr>
        <p:spPr>
          <a:xfrm>
            <a:off x="685800" y="5084064"/>
            <a:ext cx="146304" cy="146304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D64545"/>
          </a:solidFill>
          <a:ln w="12701" cap="flat">
            <a:solidFill>
              <a:srgbClr val="D64545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8C6766B3-A5A6-60C9-29EA-604B02D4AC06}"/>
              </a:ext>
            </a:extLst>
          </p:cNvPr>
          <p:cNvSpPr/>
          <p:nvPr/>
        </p:nvSpPr>
        <p:spPr>
          <a:xfrm>
            <a:off x="941832" y="5056632"/>
            <a:ext cx="3749039" cy="2286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0" i="0" u="none" strike="noStrike" kern="1200" cap="none" spc="0" baseline="0">
                <a:solidFill>
                  <a:srgbClr val="5D6773"/>
                </a:solidFill>
                <a:uFillTx/>
                <a:latin typeface="Aptos"/>
              </a:rPr>
              <a:t>Consolidation chronophage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C0DC2F09-4941-B55B-83DA-FF56E722F5D6}"/>
              </a:ext>
            </a:extLst>
          </p:cNvPr>
          <p:cNvSpPr/>
          <p:nvPr/>
        </p:nvSpPr>
        <p:spPr>
          <a:xfrm>
            <a:off x="685800" y="5504688"/>
            <a:ext cx="146304" cy="146304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D64545"/>
          </a:solidFill>
          <a:ln w="12701" cap="flat">
            <a:solidFill>
              <a:srgbClr val="D64545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E4466BBC-11A3-40E9-C03A-18CDD4A5342C}"/>
              </a:ext>
            </a:extLst>
          </p:cNvPr>
          <p:cNvSpPr/>
          <p:nvPr/>
        </p:nvSpPr>
        <p:spPr>
          <a:xfrm>
            <a:off x="941832" y="5477256"/>
            <a:ext cx="3749039" cy="2286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0" i="0" u="none" strike="noStrike" kern="1200" cap="none" spc="0" baseline="0">
                <a:solidFill>
                  <a:srgbClr val="5D6773"/>
                </a:solidFill>
                <a:uFillTx/>
                <a:latin typeface="Aptos"/>
              </a:rPr>
              <a:t>Visibilité limitée sur la charge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37951431-0ED4-4419-07C3-CD9C2479E914}"/>
              </a:ext>
            </a:extLst>
          </p:cNvPr>
          <p:cNvSpPr/>
          <p:nvPr/>
        </p:nvSpPr>
        <p:spPr>
          <a:xfrm>
            <a:off x="5486400" y="3337560"/>
            <a:ext cx="5715000" cy="2331720"/>
          </a:xfrm>
          <a:custGeom>
            <a:avLst>
              <a:gd name="f0" fmla="val 424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17212B"/>
          </a:solidFill>
          <a:ln w="12701" cap="flat">
            <a:solidFill>
              <a:srgbClr val="17212B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EA55D324-A811-D6DE-D9CE-16BA136F13CC}"/>
              </a:ext>
            </a:extLst>
          </p:cNvPr>
          <p:cNvSpPr/>
          <p:nvPr/>
        </p:nvSpPr>
        <p:spPr>
          <a:xfrm>
            <a:off x="5806440" y="3657600"/>
            <a:ext cx="1920240" cy="2743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500" b="1" i="0" u="none" strike="noStrike" kern="1200" cap="none" spc="0" baseline="0">
                <a:solidFill>
                  <a:srgbClr val="84BD00"/>
                </a:solidFill>
                <a:uFillTx/>
                <a:latin typeface="Aptos"/>
              </a:rPr>
              <a:t>Conséquence</a:t>
            </a:r>
            <a:endParaRPr lang="en-US" sz="15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F0759BB1-D1F0-37BF-787A-810805E61511}"/>
              </a:ext>
            </a:extLst>
          </p:cNvPr>
          <p:cNvSpPr/>
          <p:nvPr/>
        </p:nvSpPr>
        <p:spPr>
          <a:xfrm>
            <a:off x="5806440" y="4096512"/>
            <a:ext cx="4892040" cy="10058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384" tIns="384" rIns="384" bIns="384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b="1" i="0" u="none" strike="noStrike" kern="1200" cap="none" spc="0" baseline="0">
                <a:solidFill>
                  <a:srgbClr val="FFFFFF"/>
                </a:solidFill>
                <a:uFillTx/>
                <a:latin typeface="Aptos"/>
              </a:rPr>
              <a:t>Le portefeuille est suivi, mais le management ne dispose pas en permanence d’une vision consolidée, interactive et immédiatement exploitable.</a:t>
            </a:r>
            <a:endParaRPr lang="en-US" sz="16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4" name="Slide Number Placeholder 0">
            <a:extLst>
              <a:ext uri="{FF2B5EF4-FFF2-40B4-BE49-F238E27FC236}">
                <a16:creationId xmlns:a16="http://schemas.microsoft.com/office/drawing/2014/main" id="{854FDED7-DD51-D59E-632B-F22C4F9EE8E0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AAB43835-D306-4201-8561-42A5527A75E3}" type="slidenum"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19EF48B-E1A0-D4D6-B436-48D45D437A20}"/>
              </a:ext>
            </a:extLst>
          </p:cNvPr>
          <p:cNvSpPr/>
          <p:nvPr/>
        </p:nvSpPr>
        <p:spPr>
          <a:xfrm>
            <a:off x="530352" y="621792"/>
            <a:ext cx="2743200" cy="2286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00" b="1" i="0" u="none" strike="noStrike" kern="0" cap="none" spc="120" baseline="0">
                <a:solidFill>
                  <a:srgbClr val="84BD00"/>
                </a:solidFill>
                <a:uFillTx/>
                <a:latin typeface="Aptos"/>
              </a:rPr>
              <a:t>WORKFLOW TO-BE</a:t>
            </a:r>
            <a:endParaRPr lang="en-US" sz="10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F398693-C68D-8F84-8E13-D6932E0AB400}"/>
              </a:ext>
            </a:extLst>
          </p:cNvPr>
          <p:cNvSpPr/>
          <p:nvPr/>
        </p:nvSpPr>
        <p:spPr>
          <a:xfrm>
            <a:off x="502920" y="877824"/>
            <a:ext cx="10972800" cy="56692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700" b="1" i="0" u="none" strike="noStrike" kern="1200" cap="none" spc="0" baseline="0">
                <a:solidFill>
                  <a:srgbClr val="17212B"/>
                </a:solidFill>
                <a:uFillTx/>
                <a:latin typeface="Aptos"/>
              </a:rPr>
              <a:t>Un workflow digital, collaboratif et traçable de bout en bout</a:t>
            </a:r>
            <a:endParaRPr lang="en-US" sz="27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514E2CB-590C-2B2F-39DE-0D0B8DAA892A}"/>
              </a:ext>
            </a:extLst>
          </p:cNvPr>
          <p:cNvSpPr/>
          <p:nvPr/>
        </p:nvSpPr>
        <p:spPr>
          <a:xfrm>
            <a:off x="530352" y="1481328"/>
            <a:ext cx="10789920" cy="34747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50" b="0" i="0" u="none" strike="noStrike" kern="1200" cap="none" spc="0" baseline="0">
                <a:solidFill>
                  <a:srgbClr val="5D6773"/>
                </a:solidFill>
                <a:uFillTx/>
                <a:latin typeface="Aptos"/>
              </a:rPr>
              <a:t>La plateforme orchestre le cycle standard du RFC jusqu’à la clôture et au support.</a:t>
            </a:r>
            <a:endParaRPr lang="en-US" sz="125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4C14DAD-24E6-793E-5B2B-4E42F21C8E53}"/>
              </a:ext>
            </a:extLst>
          </p:cNvPr>
          <p:cNvSpPr/>
          <p:nvPr/>
        </p:nvSpPr>
        <p:spPr>
          <a:xfrm>
            <a:off x="502920" y="2057400"/>
            <a:ext cx="1353312" cy="868680"/>
          </a:xfrm>
          <a:custGeom>
            <a:avLst>
              <a:gd name="f0" fmla="val 91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5D6773"/>
          </a:solidFill>
          <a:ln w="12701" cap="flat">
            <a:solidFill>
              <a:srgbClr val="5D6773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016C352-6C32-8AF6-EA67-13E6CD140072}"/>
              </a:ext>
            </a:extLst>
          </p:cNvPr>
          <p:cNvSpPr/>
          <p:nvPr/>
        </p:nvSpPr>
        <p:spPr>
          <a:xfrm>
            <a:off x="576072" y="2221991"/>
            <a:ext cx="1207008" cy="4572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1" i="0" u="none" strike="noStrike" kern="1200" cap="none" spc="0" baseline="0">
                <a:solidFill>
                  <a:srgbClr val="FFFFFF"/>
                </a:solidFill>
                <a:uFillTx/>
                <a:latin typeface="Aptos"/>
              </a:rPr>
              <a:t>RFC</a:t>
            </a:r>
            <a:endParaRPr lang="en-US" sz="11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1" i="0" u="none" strike="noStrike" kern="1200" cap="none" spc="0" baseline="0">
                <a:solidFill>
                  <a:srgbClr val="FFFFFF"/>
                </a:solidFill>
                <a:uFillTx/>
                <a:latin typeface="Aptos"/>
              </a:rPr>
              <a:t>soumis</a:t>
            </a:r>
            <a:endParaRPr lang="en-US" sz="11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9F3885E7-1A52-BA73-C71C-74DD52CADA8B}"/>
              </a:ext>
            </a:extLst>
          </p:cNvPr>
          <p:cNvSpPr/>
          <p:nvPr/>
        </p:nvSpPr>
        <p:spPr>
          <a:xfrm>
            <a:off x="1901952" y="2313432"/>
            <a:ext cx="182880" cy="310896"/>
          </a:xfrm>
          <a:custGeom>
            <a:avLst>
              <a:gd name="f8" fmla="val 50000"/>
            </a:avLst>
            <a:gdLst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val 50000"/>
              <a:gd name="f9" fmla="+- 0 0 -360"/>
              <a:gd name="f10" fmla="+- 0 0 -270"/>
              <a:gd name="f11" fmla="+- 0 0 -180"/>
              <a:gd name="f12" fmla="abs f4"/>
              <a:gd name="f13" fmla="abs f5"/>
              <a:gd name="f14" fmla="abs f6"/>
              <a:gd name="f15" fmla="val f7"/>
              <a:gd name="f16" fmla="val f8"/>
              <a:gd name="f17" fmla="*/ f9 f1 1"/>
              <a:gd name="f18" fmla="*/ f10 f1 1"/>
              <a:gd name="f19" fmla="*/ f11 f1 1"/>
              <a:gd name="f20" fmla="?: f12 f4 1"/>
              <a:gd name="f21" fmla="?: f13 f5 1"/>
              <a:gd name="f22" fmla="?: f14 f6 1"/>
              <a:gd name="f23" fmla="*/ f17 1 f3"/>
              <a:gd name="f24" fmla="*/ f18 1 f3"/>
              <a:gd name="f25" fmla="*/ f19 1 f3"/>
              <a:gd name="f26" fmla="*/ f20 1 21600"/>
              <a:gd name="f27" fmla="*/ f21 1 21600"/>
              <a:gd name="f28" fmla="*/ 21600 f20 1"/>
              <a:gd name="f29" fmla="*/ 21600 f21 1"/>
              <a:gd name="f30" fmla="+- f23 0 f2"/>
              <a:gd name="f31" fmla="+- f24 0 f2"/>
              <a:gd name="f32" fmla="+- f25 0 f2"/>
              <a:gd name="f33" fmla="min f27 f26"/>
              <a:gd name="f34" fmla="*/ f28 1 f22"/>
              <a:gd name="f35" fmla="*/ f29 1 f22"/>
              <a:gd name="f36" fmla="val f34"/>
              <a:gd name="f37" fmla="val f35"/>
              <a:gd name="f38" fmla="*/ f15 f33 1"/>
              <a:gd name="f39" fmla="+- f37 0 f15"/>
              <a:gd name="f40" fmla="+- f36 0 f15"/>
              <a:gd name="f41" fmla="*/ f37 f33 1"/>
              <a:gd name="f42" fmla="*/ f36 f33 1"/>
              <a:gd name="f43" fmla="*/ f39 1 2"/>
              <a:gd name="f44" fmla="min f40 f39"/>
              <a:gd name="f45" fmla="+- f15 f43 0"/>
              <a:gd name="f46" fmla="*/ f44 f16 1"/>
              <a:gd name="f47" fmla="*/ f46 1 100000"/>
              <a:gd name="f48" fmla="*/ f45 f33 1"/>
              <a:gd name="f49" fmla="+- f36 0 f47"/>
              <a:gd name="f50" fmla="*/ f47 f33 1"/>
              <a:gd name="f51" fmla="*/ f49 1 2"/>
              <a:gd name="f52" fmla="+- f49 0 f47"/>
              <a:gd name="f53" fmla="*/ f49 f33 1"/>
              <a:gd name="f54" fmla="?: f52 f47 f15"/>
              <a:gd name="f55" fmla="?: f52 f49 f36"/>
              <a:gd name="f56" fmla="*/ f51 f33 1"/>
              <a:gd name="f57" fmla="*/ f54 f33 1"/>
              <a:gd name="f58" fmla="*/ f55 f33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0">
                <a:pos x="f56" y="f38"/>
              </a:cxn>
              <a:cxn ang="f31">
                <a:pos x="f50" y="f48"/>
              </a:cxn>
              <a:cxn ang="f32">
                <a:pos x="f56" y="f41"/>
              </a:cxn>
            </a:cxnLst>
            <a:rect l="f57" t="f38" r="f58" b="f41"/>
            <a:pathLst>
              <a:path>
                <a:moveTo>
                  <a:pt x="f38" y="f38"/>
                </a:moveTo>
                <a:lnTo>
                  <a:pt x="f53" y="f38"/>
                </a:lnTo>
                <a:lnTo>
                  <a:pt x="f42" y="f48"/>
                </a:lnTo>
                <a:lnTo>
                  <a:pt x="f53" y="f41"/>
                </a:lnTo>
                <a:lnTo>
                  <a:pt x="f38" y="f41"/>
                </a:lnTo>
                <a:lnTo>
                  <a:pt x="f50" y="f48"/>
                </a:lnTo>
                <a:close/>
              </a:path>
            </a:pathLst>
          </a:custGeom>
          <a:solidFill>
            <a:srgbClr val="AAB4BE"/>
          </a:solidFill>
          <a:ln w="12701" cap="flat">
            <a:solidFill>
              <a:srgbClr val="AAB4BE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C270A119-1258-66CF-C456-58A222A2581B}"/>
              </a:ext>
            </a:extLst>
          </p:cNvPr>
          <p:cNvSpPr/>
          <p:nvPr/>
        </p:nvSpPr>
        <p:spPr>
          <a:xfrm>
            <a:off x="2139696" y="2057400"/>
            <a:ext cx="1353312" cy="868680"/>
          </a:xfrm>
          <a:custGeom>
            <a:avLst>
              <a:gd name="f0" fmla="val 91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84BD00"/>
          </a:solidFill>
          <a:ln w="12701" cap="flat">
            <a:solidFill>
              <a:srgbClr val="84BD00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3981A752-F3D7-8823-844F-5003EE768EB5}"/>
              </a:ext>
            </a:extLst>
          </p:cNvPr>
          <p:cNvSpPr/>
          <p:nvPr/>
        </p:nvSpPr>
        <p:spPr>
          <a:xfrm>
            <a:off x="2212848" y="2221991"/>
            <a:ext cx="1207008" cy="4572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1" i="0" u="none" strike="noStrike" kern="1200" cap="none" spc="0" baseline="0">
                <a:solidFill>
                  <a:srgbClr val="FFFFFF"/>
                </a:solidFill>
                <a:uFillTx/>
                <a:latin typeface="Aptos"/>
              </a:rPr>
              <a:t>RFC</a:t>
            </a:r>
            <a:endParaRPr lang="en-US" sz="11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1" i="0" u="none" strike="noStrike" kern="1200" cap="none" spc="0" baseline="0">
                <a:solidFill>
                  <a:srgbClr val="FFFFFF"/>
                </a:solidFill>
                <a:uFillTx/>
                <a:latin typeface="Aptos"/>
              </a:rPr>
              <a:t>approuvé</a:t>
            </a:r>
            <a:endParaRPr lang="en-US" sz="11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23275A95-F464-51A6-BDF1-2CD6785ADD6C}"/>
              </a:ext>
            </a:extLst>
          </p:cNvPr>
          <p:cNvSpPr/>
          <p:nvPr/>
        </p:nvSpPr>
        <p:spPr>
          <a:xfrm>
            <a:off x="3538727" y="2313432"/>
            <a:ext cx="182880" cy="310896"/>
          </a:xfrm>
          <a:custGeom>
            <a:avLst>
              <a:gd name="f8" fmla="val 50000"/>
            </a:avLst>
            <a:gdLst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val 50000"/>
              <a:gd name="f9" fmla="+- 0 0 -360"/>
              <a:gd name="f10" fmla="+- 0 0 -270"/>
              <a:gd name="f11" fmla="+- 0 0 -180"/>
              <a:gd name="f12" fmla="abs f4"/>
              <a:gd name="f13" fmla="abs f5"/>
              <a:gd name="f14" fmla="abs f6"/>
              <a:gd name="f15" fmla="val f7"/>
              <a:gd name="f16" fmla="val f8"/>
              <a:gd name="f17" fmla="*/ f9 f1 1"/>
              <a:gd name="f18" fmla="*/ f10 f1 1"/>
              <a:gd name="f19" fmla="*/ f11 f1 1"/>
              <a:gd name="f20" fmla="?: f12 f4 1"/>
              <a:gd name="f21" fmla="?: f13 f5 1"/>
              <a:gd name="f22" fmla="?: f14 f6 1"/>
              <a:gd name="f23" fmla="*/ f17 1 f3"/>
              <a:gd name="f24" fmla="*/ f18 1 f3"/>
              <a:gd name="f25" fmla="*/ f19 1 f3"/>
              <a:gd name="f26" fmla="*/ f20 1 21600"/>
              <a:gd name="f27" fmla="*/ f21 1 21600"/>
              <a:gd name="f28" fmla="*/ 21600 f20 1"/>
              <a:gd name="f29" fmla="*/ 21600 f21 1"/>
              <a:gd name="f30" fmla="+- f23 0 f2"/>
              <a:gd name="f31" fmla="+- f24 0 f2"/>
              <a:gd name="f32" fmla="+- f25 0 f2"/>
              <a:gd name="f33" fmla="min f27 f26"/>
              <a:gd name="f34" fmla="*/ f28 1 f22"/>
              <a:gd name="f35" fmla="*/ f29 1 f22"/>
              <a:gd name="f36" fmla="val f34"/>
              <a:gd name="f37" fmla="val f35"/>
              <a:gd name="f38" fmla="*/ f15 f33 1"/>
              <a:gd name="f39" fmla="+- f37 0 f15"/>
              <a:gd name="f40" fmla="+- f36 0 f15"/>
              <a:gd name="f41" fmla="*/ f37 f33 1"/>
              <a:gd name="f42" fmla="*/ f36 f33 1"/>
              <a:gd name="f43" fmla="*/ f39 1 2"/>
              <a:gd name="f44" fmla="min f40 f39"/>
              <a:gd name="f45" fmla="+- f15 f43 0"/>
              <a:gd name="f46" fmla="*/ f44 f16 1"/>
              <a:gd name="f47" fmla="*/ f46 1 100000"/>
              <a:gd name="f48" fmla="*/ f45 f33 1"/>
              <a:gd name="f49" fmla="+- f36 0 f47"/>
              <a:gd name="f50" fmla="*/ f47 f33 1"/>
              <a:gd name="f51" fmla="*/ f49 1 2"/>
              <a:gd name="f52" fmla="+- f49 0 f47"/>
              <a:gd name="f53" fmla="*/ f49 f33 1"/>
              <a:gd name="f54" fmla="?: f52 f47 f15"/>
              <a:gd name="f55" fmla="?: f52 f49 f36"/>
              <a:gd name="f56" fmla="*/ f51 f33 1"/>
              <a:gd name="f57" fmla="*/ f54 f33 1"/>
              <a:gd name="f58" fmla="*/ f55 f33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0">
                <a:pos x="f56" y="f38"/>
              </a:cxn>
              <a:cxn ang="f31">
                <a:pos x="f50" y="f48"/>
              </a:cxn>
              <a:cxn ang="f32">
                <a:pos x="f56" y="f41"/>
              </a:cxn>
            </a:cxnLst>
            <a:rect l="f57" t="f38" r="f58" b="f41"/>
            <a:pathLst>
              <a:path>
                <a:moveTo>
                  <a:pt x="f38" y="f38"/>
                </a:moveTo>
                <a:lnTo>
                  <a:pt x="f53" y="f38"/>
                </a:lnTo>
                <a:lnTo>
                  <a:pt x="f42" y="f48"/>
                </a:lnTo>
                <a:lnTo>
                  <a:pt x="f53" y="f41"/>
                </a:lnTo>
                <a:lnTo>
                  <a:pt x="f38" y="f41"/>
                </a:lnTo>
                <a:lnTo>
                  <a:pt x="f50" y="f48"/>
                </a:lnTo>
                <a:close/>
              </a:path>
            </a:pathLst>
          </a:custGeom>
          <a:solidFill>
            <a:srgbClr val="AAB4BE"/>
          </a:solidFill>
          <a:ln w="12701" cap="flat">
            <a:solidFill>
              <a:srgbClr val="AAB4BE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0CBAF7D8-7055-9045-BE72-0311EA003697}"/>
              </a:ext>
            </a:extLst>
          </p:cNvPr>
          <p:cNvSpPr/>
          <p:nvPr/>
        </p:nvSpPr>
        <p:spPr>
          <a:xfrm>
            <a:off x="3776472" y="2057400"/>
            <a:ext cx="1353312" cy="868680"/>
          </a:xfrm>
          <a:custGeom>
            <a:avLst>
              <a:gd name="f0" fmla="val 91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2F80ED"/>
          </a:solidFill>
          <a:ln w="12701" cap="flat">
            <a:solidFill>
              <a:srgbClr val="2F80ED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4A34157E-8B49-F604-6066-417A847EBEE5}"/>
              </a:ext>
            </a:extLst>
          </p:cNvPr>
          <p:cNvSpPr/>
          <p:nvPr/>
        </p:nvSpPr>
        <p:spPr>
          <a:xfrm>
            <a:off x="3849624" y="2221991"/>
            <a:ext cx="1207008" cy="4572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1" i="0" u="none" strike="noStrike" kern="1200" cap="none" spc="0" baseline="0">
                <a:solidFill>
                  <a:srgbClr val="FFFFFF"/>
                </a:solidFill>
                <a:uFillTx/>
                <a:latin typeface="Aptos"/>
              </a:rPr>
              <a:t>Analyse</a:t>
            </a:r>
            <a:endParaRPr lang="en-US" sz="11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7146773B-450F-68D8-3D3B-C1E7F5F104B1}"/>
              </a:ext>
            </a:extLst>
          </p:cNvPr>
          <p:cNvSpPr/>
          <p:nvPr/>
        </p:nvSpPr>
        <p:spPr>
          <a:xfrm>
            <a:off x="5175503" y="2313432"/>
            <a:ext cx="182880" cy="310896"/>
          </a:xfrm>
          <a:custGeom>
            <a:avLst>
              <a:gd name="f8" fmla="val 50000"/>
            </a:avLst>
            <a:gdLst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val 50000"/>
              <a:gd name="f9" fmla="+- 0 0 -360"/>
              <a:gd name="f10" fmla="+- 0 0 -270"/>
              <a:gd name="f11" fmla="+- 0 0 -180"/>
              <a:gd name="f12" fmla="abs f4"/>
              <a:gd name="f13" fmla="abs f5"/>
              <a:gd name="f14" fmla="abs f6"/>
              <a:gd name="f15" fmla="val f7"/>
              <a:gd name="f16" fmla="val f8"/>
              <a:gd name="f17" fmla="*/ f9 f1 1"/>
              <a:gd name="f18" fmla="*/ f10 f1 1"/>
              <a:gd name="f19" fmla="*/ f11 f1 1"/>
              <a:gd name="f20" fmla="?: f12 f4 1"/>
              <a:gd name="f21" fmla="?: f13 f5 1"/>
              <a:gd name="f22" fmla="?: f14 f6 1"/>
              <a:gd name="f23" fmla="*/ f17 1 f3"/>
              <a:gd name="f24" fmla="*/ f18 1 f3"/>
              <a:gd name="f25" fmla="*/ f19 1 f3"/>
              <a:gd name="f26" fmla="*/ f20 1 21600"/>
              <a:gd name="f27" fmla="*/ f21 1 21600"/>
              <a:gd name="f28" fmla="*/ 21600 f20 1"/>
              <a:gd name="f29" fmla="*/ 21600 f21 1"/>
              <a:gd name="f30" fmla="+- f23 0 f2"/>
              <a:gd name="f31" fmla="+- f24 0 f2"/>
              <a:gd name="f32" fmla="+- f25 0 f2"/>
              <a:gd name="f33" fmla="min f27 f26"/>
              <a:gd name="f34" fmla="*/ f28 1 f22"/>
              <a:gd name="f35" fmla="*/ f29 1 f22"/>
              <a:gd name="f36" fmla="val f34"/>
              <a:gd name="f37" fmla="val f35"/>
              <a:gd name="f38" fmla="*/ f15 f33 1"/>
              <a:gd name="f39" fmla="+- f37 0 f15"/>
              <a:gd name="f40" fmla="+- f36 0 f15"/>
              <a:gd name="f41" fmla="*/ f37 f33 1"/>
              <a:gd name="f42" fmla="*/ f36 f33 1"/>
              <a:gd name="f43" fmla="*/ f39 1 2"/>
              <a:gd name="f44" fmla="min f40 f39"/>
              <a:gd name="f45" fmla="+- f15 f43 0"/>
              <a:gd name="f46" fmla="*/ f44 f16 1"/>
              <a:gd name="f47" fmla="*/ f46 1 100000"/>
              <a:gd name="f48" fmla="*/ f45 f33 1"/>
              <a:gd name="f49" fmla="+- f36 0 f47"/>
              <a:gd name="f50" fmla="*/ f47 f33 1"/>
              <a:gd name="f51" fmla="*/ f49 1 2"/>
              <a:gd name="f52" fmla="+- f49 0 f47"/>
              <a:gd name="f53" fmla="*/ f49 f33 1"/>
              <a:gd name="f54" fmla="?: f52 f47 f15"/>
              <a:gd name="f55" fmla="?: f52 f49 f36"/>
              <a:gd name="f56" fmla="*/ f51 f33 1"/>
              <a:gd name="f57" fmla="*/ f54 f33 1"/>
              <a:gd name="f58" fmla="*/ f55 f33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0">
                <a:pos x="f56" y="f38"/>
              </a:cxn>
              <a:cxn ang="f31">
                <a:pos x="f50" y="f48"/>
              </a:cxn>
              <a:cxn ang="f32">
                <a:pos x="f56" y="f41"/>
              </a:cxn>
            </a:cxnLst>
            <a:rect l="f57" t="f38" r="f58" b="f41"/>
            <a:pathLst>
              <a:path>
                <a:moveTo>
                  <a:pt x="f38" y="f38"/>
                </a:moveTo>
                <a:lnTo>
                  <a:pt x="f53" y="f38"/>
                </a:lnTo>
                <a:lnTo>
                  <a:pt x="f42" y="f48"/>
                </a:lnTo>
                <a:lnTo>
                  <a:pt x="f53" y="f41"/>
                </a:lnTo>
                <a:lnTo>
                  <a:pt x="f38" y="f41"/>
                </a:lnTo>
                <a:lnTo>
                  <a:pt x="f50" y="f48"/>
                </a:lnTo>
                <a:close/>
              </a:path>
            </a:pathLst>
          </a:custGeom>
          <a:solidFill>
            <a:srgbClr val="AAB4BE"/>
          </a:solidFill>
          <a:ln w="12701" cap="flat">
            <a:solidFill>
              <a:srgbClr val="AAB4BE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3C697EB4-3506-7F1A-9EAA-D1BF7EA15363}"/>
              </a:ext>
            </a:extLst>
          </p:cNvPr>
          <p:cNvSpPr/>
          <p:nvPr/>
        </p:nvSpPr>
        <p:spPr>
          <a:xfrm>
            <a:off x="5413248" y="2057400"/>
            <a:ext cx="1353312" cy="868680"/>
          </a:xfrm>
          <a:custGeom>
            <a:avLst>
              <a:gd name="f0" fmla="val 91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6C63FF"/>
          </a:solidFill>
          <a:ln w="12701" cap="flat">
            <a:solidFill>
              <a:srgbClr val="6C63FF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5E983B58-8ECD-12FE-44D5-7E6F72C27114}"/>
              </a:ext>
            </a:extLst>
          </p:cNvPr>
          <p:cNvSpPr/>
          <p:nvPr/>
        </p:nvSpPr>
        <p:spPr>
          <a:xfrm>
            <a:off x="5486400" y="2221991"/>
            <a:ext cx="1207008" cy="4572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1" i="0" u="none" strike="noStrike" kern="1200" cap="none" spc="0" baseline="0">
                <a:solidFill>
                  <a:srgbClr val="FFFFFF"/>
                </a:solidFill>
                <a:uFillTx/>
                <a:latin typeface="Aptos"/>
              </a:rPr>
              <a:t>DEV</a:t>
            </a:r>
            <a:endParaRPr lang="en-US" sz="11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1" i="0" u="none" strike="noStrike" kern="1200" cap="none" spc="0" baseline="0">
                <a:solidFill>
                  <a:srgbClr val="FFFFFF"/>
                </a:solidFill>
                <a:uFillTx/>
                <a:latin typeface="Aptos"/>
              </a:rPr>
              <a:t>démarré</a:t>
            </a:r>
            <a:endParaRPr lang="en-US" sz="11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5BCD1916-1307-1708-6B6E-4D822C2FD9D0}"/>
              </a:ext>
            </a:extLst>
          </p:cNvPr>
          <p:cNvSpPr/>
          <p:nvPr/>
        </p:nvSpPr>
        <p:spPr>
          <a:xfrm>
            <a:off x="6812280" y="2313432"/>
            <a:ext cx="182880" cy="310896"/>
          </a:xfrm>
          <a:custGeom>
            <a:avLst>
              <a:gd name="f8" fmla="val 50000"/>
            </a:avLst>
            <a:gdLst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val 50000"/>
              <a:gd name="f9" fmla="+- 0 0 -360"/>
              <a:gd name="f10" fmla="+- 0 0 -270"/>
              <a:gd name="f11" fmla="+- 0 0 -180"/>
              <a:gd name="f12" fmla="abs f4"/>
              <a:gd name="f13" fmla="abs f5"/>
              <a:gd name="f14" fmla="abs f6"/>
              <a:gd name="f15" fmla="val f7"/>
              <a:gd name="f16" fmla="val f8"/>
              <a:gd name="f17" fmla="*/ f9 f1 1"/>
              <a:gd name="f18" fmla="*/ f10 f1 1"/>
              <a:gd name="f19" fmla="*/ f11 f1 1"/>
              <a:gd name="f20" fmla="?: f12 f4 1"/>
              <a:gd name="f21" fmla="?: f13 f5 1"/>
              <a:gd name="f22" fmla="?: f14 f6 1"/>
              <a:gd name="f23" fmla="*/ f17 1 f3"/>
              <a:gd name="f24" fmla="*/ f18 1 f3"/>
              <a:gd name="f25" fmla="*/ f19 1 f3"/>
              <a:gd name="f26" fmla="*/ f20 1 21600"/>
              <a:gd name="f27" fmla="*/ f21 1 21600"/>
              <a:gd name="f28" fmla="*/ 21600 f20 1"/>
              <a:gd name="f29" fmla="*/ 21600 f21 1"/>
              <a:gd name="f30" fmla="+- f23 0 f2"/>
              <a:gd name="f31" fmla="+- f24 0 f2"/>
              <a:gd name="f32" fmla="+- f25 0 f2"/>
              <a:gd name="f33" fmla="min f27 f26"/>
              <a:gd name="f34" fmla="*/ f28 1 f22"/>
              <a:gd name="f35" fmla="*/ f29 1 f22"/>
              <a:gd name="f36" fmla="val f34"/>
              <a:gd name="f37" fmla="val f35"/>
              <a:gd name="f38" fmla="*/ f15 f33 1"/>
              <a:gd name="f39" fmla="+- f37 0 f15"/>
              <a:gd name="f40" fmla="+- f36 0 f15"/>
              <a:gd name="f41" fmla="*/ f37 f33 1"/>
              <a:gd name="f42" fmla="*/ f36 f33 1"/>
              <a:gd name="f43" fmla="*/ f39 1 2"/>
              <a:gd name="f44" fmla="min f40 f39"/>
              <a:gd name="f45" fmla="+- f15 f43 0"/>
              <a:gd name="f46" fmla="*/ f44 f16 1"/>
              <a:gd name="f47" fmla="*/ f46 1 100000"/>
              <a:gd name="f48" fmla="*/ f45 f33 1"/>
              <a:gd name="f49" fmla="+- f36 0 f47"/>
              <a:gd name="f50" fmla="*/ f47 f33 1"/>
              <a:gd name="f51" fmla="*/ f49 1 2"/>
              <a:gd name="f52" fmla="+- f49 0 f47"/>
              <a:gd name="f53" fmla="*/ f49 f33 1"/>
              <a:gd name="f54" fmla="?: f52 f47 f15"/>
              <a:gd name="f55" fmla="?: f52 f49 f36"/>
              <a:gd name="f56" fmla="*/ f51 f33 1"/>
              <a:gd name="f57" fmla="*/ f54 f33 1"/>
              <a:gd name="f58" fmla="*/ f55 f33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0">
                <a:pos x="f56" y="f38"/>
              </a:cxn>
              <a:cxn ang="f31">
                <a:pos x="f50" y="f48"/>
              </a:cxn>
              <a:cxn ang="f32">
                <a:pos x="f56" y="f41"/>
              </a:cxn>
            </a:cxnLst>
            <a:rect l="f57" t="f38" r="f58" b="f41"/>
            <a:pathLst>
              <a:path>
                <a:moveTo>
                  <a:pt x="f38" y="f38"/>
                </a:moveTo>
                <a:lnTo>
                  <a:pt x="f53" y="f38"/>
                </a:lnTo>
                <a:lnTo>
                  <a:pt x="f42" y="f48"/>
                </a:lnTo>
                <a:lnTo>
                  <a:pt x="f53" y="f41"/>
                </a:lnTo>
                <a:lnTo>
                  <a:pt x="f38" y="f41"/>
                </a:lnTo>
                <a:lnTo>
                  <a:pt x="f50" y="f48"/>
                </a:lnTo>
                <a:close/>
              </a:path>
            </a:pathLst>
          </a:custGeom>
          <a:solidFill>
            <a:srgbClr val="AAB4BE"/>
          </a:solidFill>
          <a:ln w="12701" cap="flat">
            <a:solidFill>
              <a:srgbClr val="AAB4BE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F55C4D59-FCA6-E9CB-75A8-8A485DC3C57F}"/>
              </a:ext>
            </a:extLst>
          </p:cNvPr>
          <p:cNvSpPr/>
          <p:nvPr/>
        </p:nvSpPr>
        <p:spPr>
          <a:xfrm>
            <a:off x="7050024" y="2057400"/>
            <a:ext cx="1353312" cy="868680"/>
          </a:xfrm>
          <a:custGeom>
            <a:avLst>
              <a:gd name="f0" fmla="val 91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5A623"/>
          </a:solidFill>
          <a:ln w="12701" cap="flat">
            <a:solidFill>
              <a:srgbClr val="F5A623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F1210A0D-9302-63B9-C9BD-9B0FD01AD514}"/>
              </a:ext>
            </a:extLst>
          </p:cNvPr>
          <p:cNvSpPr/>
          <p:nvPr/>
        </p:nvSpPr>
        <p:spPr>
          <a:xfrm>
            <a:off x="7123176" y="2221991"/>
            <a:ext cx="1207008" cy="4572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1" i="0" u="none" strike="noStrike" kern="1200" cap="none" spc="0" baseline="0">
                <a:solidFill>
                  <a:srgbClr val="FFFFFF"/>
                </a:solidFill>
                <a:uFillTx/>
                <a:latin typeface="Aptos"/>
              </a:rPr>
              <a:t>Tests</a:t>
            </a:r>
            <a:endParaRPr lang="en-US" sz="11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E949707C-0F9E-2897-38B9-461251F81CCD}"/>
              </a:ext>
            </a:extLst>
          </p:cNvPr>
          <p:cNvSpPr/>
          <p:nvPr/>
        </p:nvSpPr>
        <p:spPr>
          <a:xfrm>
            <a:off x="8449055" y="2313432"/>
            <a:ext cx="182880" cy="310896"/>
          </a:xfrm>
          <a:custGeom>
            <a:avLst>
              <a:gd name="f8" fmla="val 50000"/>
            </a:avLst>
            <a:gdLst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val 50000"/>
              <a:gd name="f9" fmla="+- 0 0 -360"/>
              <a:gd name="f10" fmla="+- 0 0 -270"/>
              <a:gd name="f11" fmla="+- 0 0 -180"/>
              <a:gd name="f12" fmla="abs f4"/>
              <a:gd name="f13" fmla="abs f5"/>
              <a:gd name="f14" fmla="abs f6"/>
              <a:gd name="f15" fmla="val f7"/>
              <a:gd name="f16" fmla="val f8"/>
              <a:gd name="f17" fmla="*/ f9 f1 1"/>
              <a:gd name="f18" fmla="*/ f10 f1 1"/>
              <a:gd name="f19" fmla="*/ f11 f1 1"/>
              <a:gd name="f20" fmla="?: f12 f4 1"/>
              <a:gd name="f21" fmla="?: f13 f5 1"/>
              <a:gd name="f22" fmla="?: f14 f6 1"/>
              <a:gd name="f23" fmla="*/ f17 1 f3"/>
              <a:gd name="f24" fmla="*/ f18 1 f3"/>
              <a:gd name="f25" fmla="*/ f19 1 f3"/>
              <a:gd name="f26" fmla="*/ f20 1 21600"/>
              <a:gd name="f27" fmla="*/ f21 1 21600"/>
              <a:gd name="f28" fmla="*/ 21600 f20 1"/>
              <a:gd name="f29" fmla="*/ 21600 f21 1"/>
              <a:gd name="f30" fmla="+- f23 0 f2"/>
              <a:gd name="f31" fmla="+- f24 0 f2"/>
              <a:gd name="f32" fmla="+- f25 0 f2"/>
              <a:gd name="f33" fmla="min f27 f26"/>
              <a:gd name="f34" fmla="*/ f28 1 f22"/>
              <a:gd name="f35" fmla="*/ f29 1 f22"/>
              <a:gd name="f36" fmla="val f34"/>
              <a:gd name="f37" fmla="val f35"/>
              <a:gd name="f38" fmla="*/ f15 f33 1"/>
              <a:gd name="f39" fmla="+- f37 0 f15"/>
              <a:gd name="f40" fmla="+- f36 0 f15"/>
              <a:gd name="f41" fmla="*/ f37 f33 1"/>
              <a:gd name="f42" fmla="*/ f36 f33 1"/>
              <a:gd name="f43" fmla="*/ f39 1 2"/>
              <a:gd name="f44" fmla="min f40 f39"/>
              <a:gd name="f45" fmla="+- f15 f43 0"/>
              <a:gd name="f46" fmla="*/ f44 f16 1"/>
              <a:gd name="f47" fmla="*/ f46 1 100000"/>
              <a:gd name="f48" fmla="*/ f45 f33 1"/>
              <a:gd name="f49" fmla="+- f36 0 f47"/>
              <a:gd name="f50" fmla="*/ f47 f33 1"/>
              <a:gd name="f51" fmla="*/ f49 1 2"/>
              <a:gd name="f52" fmla="+- f49 0 f47"/>
              <a:gd name="f53" fmla="*/ f49 f33 1"/>
              <a:gd name="f54" fmla="?: f52 f47 f15"/>
              <a:gd name="f55" fmla="?: f52 f49 f36"/>
              <a:gd name="f56" fmla="*/ f51 f33 1"/>
              <a:gd name="f57" fmla="*/ f54 f33 1"/>
              <a:gd name="f58" fmla="*/ f55 f33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0">
                <a:pos x="f56" y="f38"/>
              </a:cxn>
              <a:cxn ang="f31">
                <a:pos x="f50" y="f48"/>
              </a:cxn>
              <a:cxn ang="f32">
                <a:pos x="f56" y="f41"/>
              </a:cxn>
            </a:cxnLst>
            <a:rect l="f57" t="f38" r="f58" b="f41"/>
            <a:pathLst>
              <a:path>
                <a:moveTo>
                  <a:pt x="f38" y="f38"/>
                </a:moveTo>
                <a:lnTo>
                  <a:pt x="f53" y="f38"/>
                </a:lnTo>
                <a:lnTo>
                  <a:pt x="f42" y="f48"/>
                </a:lnTo>
                <a:lnTo>
                  <a:pt x="f53" y="f41"/>
                </a:lnTo>
                <a:lnTo>
                  <a:pt x="f38" y="f41"/>
                </a:lnTo>
                <a:lnTo>
                  <a:pt x="f50" y="f48"/>
                </a:lnTo>
                <a:close/>
              </a:path>
            </a:pathLst>
          </a:custGeom>
          <a:solidFill>
            <a:srgbClr val="AAB4BE"/>
          </a:solidFill>
          <a:ln w="12701" cap="flat">
            <a:solidFill>
              <a:srgbClr val="AAB4BE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6AF1E717-27B5-1C0F-E76E-3A74149781B8}"/>
              </a:ext>
            </a:extLst>
          </p:cNvPr>
          <p:cNvSpPr/>
          <p:nvPr/>
        </p:nvSpPr>
        <p:spPr>
          <a:xfrm>
            <a:off x="8686800" y="2057400"/>
            <a:ext cx="1353312" cy="868680"/>
          </a:xfrm>
          <a:custGeom>
            <a:avLst>
              <a:gd name="f0" fmla="val 91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84BD00"/>
          </a:solidFill>
          <a:ln w="12701" cap="flat">
            <a:solidFill>
              <a:srgbClr val="84BD00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A16DA543-B681-B93C-ED1F-83E960476038}"/>
              </a:ext>
            </a:extLst>
          </p:cNvPr>
          <p:cNvSpPr/>
          <p:nvPr/>
        </p:nvSpPr>
        <p:spPr>
          <a:xfrm>
            <a:off x="8759952" y="2221991"/>
            <a:ext cx="1207008" cy="4572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1" i="0" u="none" strike="noStrike" kern="1200" cap="none" spc="0" baseline="0">
                <a:solidFill>
                  <a:srgbClr val="FFFFFF"/>
                </a:solidFill>
                <a:uFillTx/>
                <a:latin typeface="Aptos"/>
              </a:rPr>
              <a:t>Go Live</a:t>
            </a:r>
            <a:endParaRPr lang="en-US" sz="11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72D654F5-C563-C0AC-340D-BB8CF6731025}"/>
              </a:ext>
            </a:extLst>
          </p:cNvPr>
          <p:cNvSpPr/>
          <p:nvPr/>
        </p:nvSpPr>
        <p:spPr>
          <a:xfrm>
            <a:off x="10085832" y="2313432"/>
            <a:ext cx="182880" cy="310896"/>
          </a:xfrm>
          <a:custGeom>
            <a:avLst>
              <a:gd name="f8" fmla="val 50000"/>
            </a:avLst>
            <a:gdLst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val 50000"/>
              <a:gd name="f9" fmla="+- 0 0 -360"/>
              <a:gd name="f10" fmla="+- 0 0 -270"/>
              <a:gd name="f11" fmla="+- 0 0 -180"/>
              <a:gd name="f12" fmla="abs f4"/>
              <a:gd name="f13" fmla="abs f5"/>
              <a:gd name="f14" fmla="abs f6"/>
              <a:gd name="f15" fmla="val f7"/>
              <a:gd name="f16" fmla="val f8"/>
              <a:gd name="f17" fmla="*/ f9 f1 1"/>
              <a:gd name="f18" fmla="*/ f10 f1 1"/>
              <a:gd name="f19" fmla="*/ f11 f1 1"/>
              <a:gd name="f20" fmla="?: f12 f4 1"/>
              <a:gd name="f21" fmla="?: f13 f5 1"/>
              <a:gd name="f22" fmla="?: f14 f6 1"/>
              <a:gd name="f23" fmla="*/ f17 1 f3"/>
              <a:gd name="f24" fmla="*/ f18 1 f3"/>
              <a:gd name="f25" fmla="*/ f19 1 f3"/>
              <a:gd name="f26" fmla="*/ f20 1 21600"/>
              <a:gd name="f27" fmla="*/ f21 1 21600"/>
              <a:gd name="f28" fmla="*/ 21600 f20 1"/>
              <a:gd name="f29" fmla="*/ 21600 f21 1"/>
              <a:gd name="f30" fmla="+- f23 0 f2"/>
              <a:gd name="f31" fmla="+- f24 0 f2"/>
              <a:gd name="f32" fmla="+- f25 0 f2"/>
              <a:gd name="f33" fmla="min f27 f26"/>
              <a:gd name="f34" fmla="*/ f28 1 f22"/>
              <a:gd name="f35" fmla="*/ f29 1 f22"/>
              <a:gd name="f36" fmla="val f34"/>
              <a:gd name="f37" fmla="val f35"/>
              <a:gd name="f38" fmla="*/ f15 f33 1"/>
              <a:gd name="f39" fmla="+- f37 0 f15"/>
              <a:gd name="f40" fmla="+- f36 0 f15"/>
              <a:gd name="f41" fmla="*/ f37 f33 1"/>
              <a:gd name="f42" fmla="*/ f36 f33 1"/>
              <a:gd name="f43" fmla="*/ f39 1 2"/>
              <a:gd name="f44" fmla="min f40 f39"/>
              <a:gd name="f45" fmla="+- f15 f43 0"/>
              <a:gd name="f46" fmla="*/ f44 f16 1"/>
              <a:gd name="f47" fmla="*/ f46 1 100000"/>
              <a:gd name="f48" fmla="*/ f45 f33 1"/>
              <a:gd name="f49" fmla="+- f36 0 f47"/>
              <a:gd name="f50" fmla="*/ f47 f33 1"/>
              <a:gd name="f51" fmla="*/ f49 1 2"/>
              <a:gd name="f52" fmla="+- f49 0 f47"/>
              <a:gd name="f53" fmla="*/ f49 f33 1"/>
              <a:gd name="f54" fmla="?: f52 f47 f15"/>
              <a:gd name="f55" fmla="?: f52 f49 f36"/>
              <a:gd name="f56" fmla="*/ f51 f33 1"/>
              <a:gd name="f57" fmla="*/ f54 f33 1"/>
              <a:gd name="f58" fmla="*/ f55 f33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0">
                <a:pos x="f56" y="f38"/>
              </a:cxn>
              <a:cxn ang="f31">
                <a:pos x="f50" y="f48"/>
              </a:cxn>
              <a:cxn ang="f32">
                <a:pos x="f56" y="f41"/>
              </a:cxn>
            </a:cxnLst>
            <a:rect l="f57" t="f38" r="f58" b="f41"/>
            <a:pathLst>
              <a:path>
                <a:moveTo>
                  <a:pt x="f38" y="f38"/>
                </a:moveTo>
                <a:lnTo>
                  <a:pt x="f53" y="f38"/>
                </a:lnTo>
                <a:lnTo>
                  <a:pt x="f42" y="f48"/>
                </a:lnTo>
                <a:lnTo>
                  <a:pt x="f53" y="f41"/>
                </a:lnTo>
                <a:lnTo>
                  <a:pt x="f38" y="f41"/>
                </a:lnTo>
                <a:lnTo>
                  <a:pt x="f50" y="f48"/>
                </a:lnTo>
                <a:close/>
              </a:path>
            </a:pathLst>
          </a:custGeom>
          <a:solidFill>
            <a:srgbClr val="AAB4BE"/>
          </a:solidFill>
          <a:ln w="12701" cap="flat">
            <a:solidFill>
              <a:srgbClr val="AAB4BE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7EAEBBA1-B634-106B-4E99-DCD38A076367}"/>
              </a:ext>
            </a:extLst>
          </p:cNvPr>
          <p:cNvSpPr/>
          <p:nvPr/>
        </p:nvSpPr>
        <p:spPr>
          <a:xfrm>
            <a:off x="10323576" y="2057400"/>
            <a:ext cx="1353312" cy="868680"/>
          </a:xfrm>
          <a:custGeom>
            <a:avLst>
              <a:gd name="f0" fmla="val 91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17212B"/>
          </a:solidFill>
          <a:ln w="12701" cap="flat">
            <a:solidFill>
              <a:srgbClr val="17212B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CB09C168-8FDA-3978-4DFD-B947CA367B88}"/>
              </a:ext>
            </a:extLst>
          </p:cNvPr>
          <p:cNvSpPr/>
          <p:nvPr/>
        </p:nvSpPr>
        <p:spPr>
          <a:xfrm>
            <a:off x="10396728" y="2221991"/>
            <a:ext cx="1207008" cy="4572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1" i="0" u="none" strike="noStrike" kern="1200" cap="none" spc="0" baseline="0">
                <a:solidFill>
                  <a:srgbClr val="FFFFFF"/>
                </a:solidFill>
                <a:uFillTx/>
                <a:latin typeface="Aptos"/>
              </a:rPr>
              <a:t>Support /</a:t>
            </a:r>
            <a:endParaRPr lang="en-US" sz="11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1" i="0" u="none" strike="noStrike" kern="1200" cap="none" spc="0" baseline="0">
                <a:solidFill>
                  <a:srgbClr val="FFFFFF"/>
                </a:solidFill>
                <a:uFillTx/>
                <a:latin typeface="Aptos"/>
              </a:rPr>
              <a:t>Clôture</a:t>
            </a:r>
            <a:endParaRPr lang="en-US" sz="11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B05DA64B-BCC1-FDE7-0B58-1475738E6882}"/>
              </a:ext>
            </a:extLst>
          </p:cNvPr>
          <p:cNvSpPr/>
          <p:nvPr/>
        </p:nvSpPr>
        <p:spPr>
          <a:xfrm>
            <a:off x="530352" y="3346704"/>
            <a:ext cx="2286000" cy="2743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500" b="1" i="0" u="none" strike="noStrike" kern="1200" cap="none" spc="0" baseline="0">
                <a:solidFill>
                  <a:srgbClr val="17212B"/>
                </a:solidFill>
                <a:uFillTx/>
                <a:latin typeface="Aptos"/>
              </a:rPr>
              <a:t>Fonctions intégrées</a:t>
            </a:r>
            <a:endParaRPr lang="en-US" sz="15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DF9856A3-F505-A913-440D-DF1B76B42997}"/>
              </a:ext>
            </a:extLst>
          </p:cNvPr>
          <p:cNvSpPr/>
          <p:nvPr/>
        </p:nvSpPr>
        <p:spPr>
          <a:xfrm>
            <a:off x="530352" y="3749039"/>
            <a:ext cx="3429000" cy="749808"/>
          </a:xfrm>
          <a:custGeom>
            <a:avLst>
              <a:gd name="f0" fmla="val 1054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FFFFF"/>
          </a:solidFill>
          <a:ln w="12701" cap="flat">
            <a:solidFill>
              <a:srgbClr val="D6DBE0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664ED788-F0A7-1E2A-4443-BAE5DD0D9761}"/>
              </a:ext>
            </a:extLst>
          </p:cNvPr>
          <p:cNvSpPr/>
          <p:nvPr/>
        </p:nvSpPr>
        <p:spPr>
          <a:xfrm>
            <a:off x="694944" y="3886200"/>
            <a:ext cx="1051560" cy="21031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1" i="0" u="none" strike="noStrike" kern="1200" cap="none" spc="0" baseline="0">
                <a:solidFill>
                  <a:srgbClr val="84BD00"/>
                </a:solidFill>
                <a:uFillTx/>
                <a:latin typeface="Aptos"/>
              </a:rPr>
              <a:t>Kanban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1DB199D5-2EC4-97C1-4120-8A80E3A65920}"/>
              </a:ext>
            </a:extLst>
          </p:cNvPr>
          <p:cNvSpPr/>
          <p:nvPr/>
        </p:nvSpPr>
        <p:spPr>
          <a:xfrm>
            <a:off x="1810512" y="3886200"/>
            <a:ext cx="1920240" cy="3200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5D6773"/>
                </a:solidFill>
                <a:uFillTx/>
                <a:latin typeface="Aptos"/>
              </a:rPr>
              <a:t>Drag &amp; Drop par statut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BE498B06-DC24-5448-E307-5877A9AB0C89}"/>
              </a:ext>
            </a:extLst>
          </p:cNvPr>
          <p:cNvSpPr/>
          <p:nvPr/>
        </p:nvSpPr>
        <p:spPr>
          <a:xfrm>
            <a:off x="4233672" y="3749039"/>
            <a:ext cx="3429000" cy="749808"/>
          </a:xfrm>
          <a:custGeom>
            <a:avLst>
              <a:gd name="f0" fmla="val 1054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FFFFF"/>
          </a:solidFill>
          <a:ln w="12701" cap="flat">
            <a:solidFill>
              <a:srgbClr val="D6DBE0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7093F502-5138-5E65-B761-824EEDC0B576}"/>
              </a:ext>
            </a:extLst>
          </p:cNvPr>
          <p:cNvSpPr/>
          <p:nvPr/>
        </p:nvSpPr>
        <p:spPr>
          <a:xfrm>
            <a:off x="4398264" y="3886200"/>
            <a:ext cx="1051560" cy="21031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1" i="0" u="none" strike="noStrike" kern="1200" cap="none" spc="0" baseline="0">
                <a:solidFill>
                  <a:srgbClr val="84BD00"/>
                </a:solidFill>
                <a:uFillTx/>
                <a:latin typeface="Aptos"/>
              </a:rPr>
              <a:t>Actions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F5CA2327-C6E1-FD77-1603-6F7148CBF1FA}"/>
              </a:ext>
            </a:extLst>
          </p:cNvPr>
          <p:cNvSpPr/>
          <p:nvPr/>
        </p:nvSpPr>
        <p:spPr>
          <a:xfrm>
            <a:off x="5513832" y="3886200"/>
            <a:ext cx="1920240" cy="3200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5D6773"/>
                </a:solidFill>
                <a:uFillTx/>
                <a:latin typeface="Aptos"/>
              </a:rPr>
              <a:t>Responsable, échéance, statut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A46F5AFD-E98A-503D-4B22-6FBDAEC67501}"/>
              </a:ext>
            </a:extLst>
          </p:cNvPr>
          <p:cNvSpPr/>
          <p:nvPr/>
        </p:nvSpPr>
        <p:spPr>
          <a:xfrm>
            <a:off x="7936992" y="3749039"/>
            <a:ext cx="3429000" cy="749808"/>
          </a:xfrm>
          <a:custGeom>
            <a:avLst>
              <a:gd name="f0" fmla="val 1054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FFFFF"/>
          </a:solidFill>
          <a:ln w="12701" cap="flat">
            <a:solidFill>
              <a:srgbClr val="D6DBE0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60FCB3C9-FC97-F25E-DDE5-6BF416F5665E}"/>
              </a:ext>
            </a:extLst>
          </p:cNvPr>
          <p:cNvSpPr/>
          <p:nvPr/>
        </p:nvSpPr>
        <p:spPr>
          <a:xfrm>
            <a:off x="8101584" y="3886200"/>
            <a:ext cx="1051560" cy="21031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1" i="0" u="none" strike="noStrike" kern="1200" cap="none" spc="0" baseline="0">
                <a:solidFill>
                  <a:srgbClr val="84BD00"/>
                </a:solidFill>
                <a:uFillTx/>
                <a:latin typeface="Aptos"/>
              </a:rPr>
              <a:t>Commentaires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38F7DDF7-DCD7-B7F1-A6BD-D5DCD2333D8D}"/>
              </a:ext>
            </a:extLst>
          </p:cNvPr>
          <p:cNvSpPr/>
          <p:nvPr/>
        </p:nvSpPr>
        <p:spPr>
          <a:xfrm>
            <a:off x="9217152" y="3886200"/>
            <a:ext cx="1920240" cy="3200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5D6773"/>
                </a:solidFill>
                <a:uFillTx/>
                <a:latin typeface="Aptos"/>
              </a:rPr>
              <a:t>Mentions et pièces jointes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AD10ACDA-6C95-4840-B111-49D460BD0497}"/>
              </a:ext>
            </a:extLst>
          </p:cNvPr>
          <p:cNvSpPr/>
          <p:nvPr/>
        </p:nvSpPr>
        <p:spPr>
          <a:xfrm>
            <a:off x="530352" y="4773168"/>
            <a:ext cx="3429000" cy="749808"/>
          </a:xfrm>
          <a:custGeom>
            <a:avLst>
              <a:gd name="f0" fmla="val 1054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FFFFF"/>
          </a:solidFill>
          <a:ln w="12701" cap="flat">
            <a:solidFill>
              <a:srgbClr val="D6DBE0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55987683-C30E-0215-12AF-24BB0AA2CD8D}"/>
              </a:ext>
            </a:extLst>
          </p:cNvPr>
          <p:cNvSpPr/>
          <p:nvPr/>
        </p:nvSpPr>
        <p:spPr>
          <a:xfrm>
            <a:off x="694944" y="4910328"/>
            <a:ext cx="1051560" cy="21031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1" i="0" u="none" strike="noStrike" kern="1200" cap="none" spc="0" baseline="0">
                <a:solidFill>
                  <a:srgbClr val="84BD00"/>
                </a:solidFill>
                <a:uFillTx/>
                <a:latin typeface="Aptos"/>
              </a:rPr>
              <a:t>Notifications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8CED7E80-2975-E418-83D2-B384BCEC45FE}"/>
              </a:ext>
            </a:extLst>
          </p:cNvPr>
          <p:cNvSpPr/>
          <p:nvPr/>
        </p:nvSpPr>
        <p:spPr>
          <a:xfrm>
            <a:off x="1810512" y="4910328"/>
            <a:ext cx="1920240" cy="3200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5D6773"/>
                </a:solidFill>
                <a:uFillTx/>
                <a:latin typeface="Aptos"/>
              </a:rPr>
              <a:t>J-7, J-3, retard, Go Live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1EDDB670-66B2-4665-D991-9C776C6E236C}"/>
              </a:ext>
            </a:extLst>
          </p:cNvPr>
          <p:cNvSpPr/>
          <p:nvPr/>
        </p:nvSpPr>
        <p:spPr>
          <a:xfrm>
            <a:off x="4233672" y="4773168"/>
            <a:ext cx="3429000" cy="749808"/>
          </a:xfrm>
          <a:custGeom>
            <a:avLst>
              <a:gd name="f0" fmla="val 1054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FFFFF"/>
          </a:solidFill>
          <a:ln w="12701" cap="flat">
            <a:solidFill>
              <a:srgbClr val="D6DBE0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459B77C9-AA66-48D5-8EB0-1F13BA69BFDE}"/>
              </a:ext>
            </a:extLst>
          </p:cNvPr>
          <p:cNvSpPr/>
          <p:nvPr/>
        </p:nvSpPr>
        <p:spPr>
          <a:xfrm>
            <a:off x="4398264" y="4910328"/>
            <a:ext cx="1051560" cy="21031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1" i="0" u="none" strike="noStrike" kern="1200" cap="none" spc="0" baseline="0">
                <a:solidFill>
                  <a:srgbClr val="84BD00"/>
                </a:solidFill>
                <a:uFillTx/>
                <a:latin typeface="Aptos"/>
              </a:rPr>
              <a:t>Dashboards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B1F54F76-C6B9-EE83-DB64-4B445E6EA4E7}"/>
              </a:ext>
            </a:extLst>
          </p:cNvPr>
          <p:cNvSpPr/>
          <p:nvPr/>
        </p:nvSpPr>
        <p:spPr>
          <a:xfrm>
            <a:off x="5513832" y="4910328"/>
            <a:ext cx="1920240" cy="3200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5D6773"/>
                </a:solidFill>
                <a:uFillTx/>
                <a:latin typeface="Aptos"/>
              </a:rPr>
              <a:t>COMEX, IT et Power User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A8F192B7-8928-0AE6-A25A-736F1DA45C20}"/>
              </a:ext>
            </a:extLst>
          </p:cNvPr>
          <p:cNvSpPr/>
          <p:nvPr/>
        </p:nvSpPr>
        <p:spPr>
          <a:xfrm>
            <a:off x="7936992" y="4773168"/>
            <a:ext cx="3429000" cy="749808"/>
          </a:xfrm>
          <a:custGeom>
            <a:avLst>
              <a:gd name="f0" fmla="val 1054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FFFFF"/>
          </a:solidFill>
          <a:ln w="12701" cap="flat">
            <a:solidFill>
              <a:srgbClr val="D6DBE0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38F8E5DE-3AF4-026B-2712-758435953471}"/>
              </a:ext>
            </a:extLst>
          </p:cNvPr>
          <p:cNvSpPr/>
          <p:nvPr/>
        </p:nvSpPr>
        <p:spPr>
          <a:xfrm>
            <a:off x="8101584" y="4910328"/>
            <a:ext cx="1051560" cy="21031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1" i="0" u="none" strike="noStrike" kern="1200" cap="none" spc="0" baseline="0">
                <a:solidFill>
                  <a:srgbClr val="84BD00"/>
                </a:solidFill>
                <a:uFillTx/>
                <a:latin typeface="Aptos"/>
              </a:rPr>
              <a:t>Sécurité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044A5F0E-6F6E-9F0F-71C9-267FB4CAFEF9}"/>
              </a:ext>
            </a:extLst>
          </p:cNvPr>
          <p:cNvSpPr/>
          <p:nvPr/>
        </p:nvSpPr>
        <p:spPr>
          <a:xfrm>
            <a:off x="9217152" y="4910328"/>
            <a:ext cx="1920240" cy="3200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5D6773"/>
                </a:solidFill>
                <a:uFillTx/>
                <a:latin typeface="Aptos"/>
              </a:rPr>
              <a:t>AD / SSO et rôles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44" name="Slide Number Placeholder 0">
            <a:extLst>
              <a:ext uri="{FF2B5EF4-FFF2-40B4-BE49-F238E27FC236}">
                <a16:creationId xmlns:a16="http://schemas.microsoft.com/office/drawing/2014/main" id="{104CBCCC-5ABA-639B-5C45-11C77DFDA2D9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387FBDC0-E3FE-48D4-A10E-DD29278C7FF1}" type="slidenum"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0720FA6-9141-C70D-01FD-87868D9BFE21}"/>
              </a:ext>
            </a:extLst>
          </p:cNvPr>
          <p:cNvSpPr/>
          <p:nvPr/>
        </p:nvSpPr>
        <p:spPr>
          <a:xfrm>
            <a:off x="530352" y="621792"/>
            <a:ext cx="2743200" cy="2286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00" b="1" i="0" u="none" strike="noStrike" kern="0" cap="none" spc="120" baseline="0">
                <a:solidFill>
                  <a:srgbClr val="84BD00"/>
                </a:solidFill>
                <a:uFillTx/>
                <a:latin typeface="Aptos"/>
              </a:rPr>
              <a:t>RÈGLES DE GESTION</a:t>
            </a:r>
            <a:endParaRPr lang="en-US" sz="10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FED9E3D-424D-87FE-B92E-FEC4883AC6CC}"/>
              </a:ext>
            </a:extLst>
          </p:cNvPr>
          <p:cNvSpPr/>
          <p:nvPr/>
        </p:nvSpPr>
        <p:spPr>
          <a:xfrm>
            <a:off x="502920" y="877824"/>
            <a:ext cx="10972800" cy="56692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700" b="1" i="0" u="none" strike="noStrike" kern="1200" cap="none" spc="0" baseline="0">
                <a:solidFill>
                  <a:srgbClr val="17212B"/>
                </a:solidFill>
                <a:uFillTx/>
                <a:latin typeface="Aptos"/>
              </a:rPr>
              <a:t>Principes de fonctionnement et critères de réussite</a:t>
            </a:r>
            <a:endParaRPr lang="en-US" sz="27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FD0BAAA-FF90-7B05-0790-4F5B1D4DA215}"/>
              </a:ext>
            </a:extLst>
          </p:cNvPr>
          <p:cNvSpPr/>
          <p:nvPr/>
        </p:nvSpPr>
        <p:spPr>
          <a:xfrm>
            <a:off x="530352" y="1481328"/>
            <a:ext cx="10789920" cy="34747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50" b="0" i="0" u="none" strike="noStrike" kern="1200" cap="none" spc="0" baseline="0">
                <a:solidFill>
                  <a:srgbClr val="5D6773"/>
                </a:solidFill>
                <a:uFillTx/>
                <a:latin typeface="Aptos"/>
              </a:rPr>
              <a:t>Les règles ci-dessous cadrent le MVP et sécurisent l’adoption de la plateforme.</a:t>
            </a:r>
            <a:endParaRPr lang="en-US" sz="125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00982F60-8672-DC1B-A0DD-6FEB6DCF4C49}"/>
              </a:ext>
            </a:extLst>
          </p:cNvPr>
          <p:cNvSpPr/>
          <p:nvPr/>
        </p:nvSpPr>
        <p:spPr>
          <a:xfrm>
            <a:off x="530352" y="1874519"/>
            <a:ext cx="6583680" cy="749808"/>
          </a:xfrm>
          <a:custGeom>
            <a:avLst>
              <a:gd name="f0" fmla="val 1054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FFFFF"/>
          </a:solidFill>
          <a:ln w="12701" cap="flat">
            <a:solidFill>
              <a:srgbClr val="D6DBE0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75A7C42-105D-8D04-1378-47CD498E1773}"/>
              </a:ext>
            </a:extLst>
          </p:cNvPr>
          <p:cNvSpPr/>
          <p:nvPr/>
        </p:nvSpPr>
        <p:spPr>
          <a:xfrm>
            <a:off x="713232" y="2057400"/>
            <a:ext cx="411480" cy="2286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1200" cap="none" spc="0" baseline="0">
                <a:solidFill>
                  <a:srgbClr val="84BD00"/>
                </a:solidFill>
                <a:uFillTx/>
                <a:latin typeface="Aptos"/>
              </a:rPr>
              <a:t>01</a:t>
            </a: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81ED4301-A2D9-94B5-2348-1BF6F425810F}"/>
              </a:ext>
            </a:extLst>
          </p:cNvPr>
          <p:cNvSpPr/>
          <p:nvPr/>
        </p:nvSpPr>
        <p:spPr>
          <a:xfrm>
            <a:off x="1188720" y="2011680"/>
            <a:ext cx="1417320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1200" cap="none" spc="0" baseline="0">
                <a:solidFill>
                  <a:srgbClr val="17212B"/>
                </a:solidFill>
                <a:uFillTx/>
                <a:latin typeface="Aptos"/>
              </a:rPr>
              <a:t>Source unique</a:t>
            </a: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BEB76AC-BAE9-B239-A18C-D54BA43EAED4}"/>
              </a:ext>
            </a:extLst>
          </p:cNvPr>
          <p:cNvSpPr/>
          <p:nvPr/>
        </p:nvSpPr>
        <p:spPr>
          <a:xfrm>
            <a:off x="2606039" y="1984248"/>
            <a:ext cx="4224527" cy="42062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40" b="0" i="0" u="none" strike="noStrike" kern="1200" cap="none" spc="0" baseline="0">
                <a:solidFill>
                  <a:srgbClr val="5D6773"/>
                </a:solidFill>
                <a:uFillTx/>
                <a:latin typeface="Aptos"/>
              </a:rPr>
              <a:t>Chaque projet possède un Ticket ID, une référence, une entité, un responsable, un statut et une deadline.</a:t>
            </a:r>
            <a:endParaRPr lang="en-US" sz="104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4DE839EF-F7D0-1D5C-9AED-11A4741BFB5C}"/>
              </a:ext>
            </a:extLst>
          </p:cNvPr>
          <p:cNvSpPr/>
          <p:nvPr/>
        </p:nvSpPr>
        <p:spPr>
          <a:xfrm>
            <a:off x="530352" y="2834640"/>
            <a:ext cx="6583680" cy="749808"/>
          </a:xfrm>
          <a:custGeom>
            <a:avLst>
              <a:gd name="f0" fmla="val 1054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8FAFB"/>
          </a:solidFill>
          <a:ln w="12701" cap="flat">
            <a:solidFill>
              <a:srgbClr val="D6DBE0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624AD8E9-BBFE-9BBB-7A25-97762300AAAC}"/>
              </a:ext>
            </a:extLst>
          </p:cNvPr>
          <p:cNvSpPr/>
          <p:nvPr/>
        </p:nvSpPr>
        <p:spPr>
          <a:xfrm>
            <a:off x="713232" y="3017520"/>
            <a:ext cx="411480" cy="2286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1200" cap="none" spc="0" baseline="0">
                <a:solidFill>
                  <a:srgbClr val="84BD00"/>
                </a:solidFill>
                <a:uFillTx/>
                <a:latin typeface="Aptos"/>
              </a:rPr>
              <a:t>02</a:t>
            </a: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C7C1DE9D-3A94-72C4-3E69-EB0CB3849C88}"/>
              </a:ext>
            </a:extLst>
          </p:cNvPr>
          <p:cNvSpPr/>
          <p:nvPr/>
        </p:nvSpPr>
        <p:spPr>
          <a:xfrm>
            <a:off x="1188720" y="2971800"/>
            <a:ext cx="1417320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1200" cap="none" spc="0" baseline="0">
                <a:solidFill>
                  <a:srgbClr val="17212B"/>
                </a:solidFill>
                <a:uFillTx/>
                <a:latin typeface="Aptos"/>
              </a:rPr>
              <a:t>Workflow contrôlé</a:t>
            </a: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F2E8A69C-DA77-69A8-6445-8A793E158A60}"/>
              </a:ext>
            </a:extLst>
          </p:cNvPr>
          <p:cNvSpPr/>
          <p:nvPr/>
        </p:nvSpPr>
        <p:spPr>
          <a:xfrm>
            <a:off x="2606039" y="2944368"/>
            <a:ext cx="4224527" cy="42062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40" b="0" i="0" u="none" strike="noStrike" kern="1200" cap="none" spc="0" baseline="0">
                <a:solidFill>
                  <a:srgbClr val="5D6773"/>
                </a:solidFill>
                <a:uFillTx/>
                <a:latin typeface="Aptos"/>
              </a:rPr>
              <a:t>Les statuts suivent le cycle RFC, analyse, développement, tests, formation, Go Live, support et clôture.</a:t>
            </a:r>
            <a:endParaRPr lang="en-US" sz="104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E50D202F-5686-16A4-6520-48D9868C8198}"/>
              </a:ext>
            </a:extLst>
          </p:cNvPr>
          <p:cNvSpPr/>
          <p:nvPr/>
        </p:nvSpPr>
        <p:spPr>
          <a:xfrm>
            <a:off x="530352" y="3794759"/>
            <a:ext cx="6583680" cy="749808"/>
          </a:xfrm>
          <a:custGeom>
            <a:avLst>
              <a:gd name="f0" fmla="val 1054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FFFFF"/>
          </a:solidFill>
          <a:ln w="12701" cap="flat">
            <a:solidFill>
              <a:srgbClr val="D6DBE0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EB24C9B5-43B1-BC32-16A0-F07A315A873A}"/>
              </a:ext>
            </a:extLst>
          </p:cNvPr>
          <p:cNvSpPr/>
          <p:nvPr/>
        </p:nvSpPr>
        <p:spPr>
          <a:xfrm>
            <a:off x="713232" y="3977639"/>
            <a:ext cx="411480" cy="2286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1200" cap="none" spc="0" baseline="0">
                <a:solidFill>
                  <a:srgbClr val="84BD00"/>
                </a:solidFill>
                <a:uFillTx/>
                <a:latin typeface="Aptos"/>
              </a:rPr>
              <a:t>03</a:t>
            </a: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E88EA7A4-1054-5C0F-1B85-704E1ED39029}"/>
              </a:ext>
            </a:extLst>
          </p:cNvPr>
          <p:cNvSpPr/>
          <p:nvPr/>
        </p:nvSpPr>
        <p:spPr>
          <a:xfrm>
            <a:off x="1188720" y="3931920"/>
            <a:ext cx="1417320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1200" cap="none" spc="0" baseline="0">
                <a:solidFill>
                  <a:srgbClr val="17212B"/>
                </a:solidFill>
                <a:uFillTx/>
                <a:latin typeface="Aptos"/>
              </a:rPr>
              <a:t>Traçabilité</a:t>
            </a: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532C866D-1804-A406-61D0-733264273F95}"/>
              </a:ext>
            </a:extLst>
          </p:cNvPr>
          <p:cNvSpPr/>
          <p:nvPr/>
        </p:nvSpPr>
        <p:spPr>
          <a:xfrm>
            <a:off x="2606039" y="3904488"/>
            <a:ext cx="4224527" cy="42062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40" b="0" i="0" u="none" strike="noStrike" kern="1200" cap="none" spc="0" baseline="0">
                <a:solidFill>
                  <a:srgbClr val="5D6773"/>
                </a:solidFill>
                <a:uFillTx/>
                <a:latin typeface="Aptos"/>
              </a:rPr>
              <a:t>Toute modification, validation, action, commentaire et pièce jointe doit être historisée.</a:t>
            </a:r>
            <a:endParaRPr lang="en-US" sz="104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560C26FE-ACA3-0C78-A8CC-2D4F977DD2A9}"/>
              </a:ext>
            </a:extLst>
          </p:cNvPr>
          <p:cNvSpPr/>
          <p:nvPr/>
        </p:nvSpPr>
        <p:spPr>
          <a:xfrm>
            <a:off x="530352" y="4754880"/>
            <a:ext cx="6583680" cy="749808"/>
          </a:xfrm>
          <a:custGeom>
            <a:avLst>
              <a:gd name="f0" fmla="val 1054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8FAFB"/>
          </a:solidFill>
          <a:ln w="12701" cap="flat">
            <a:solidFill>
              <a:srgbClr val="D6DBE0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9F7BF09F-363D-5819-023D-A3514528B340}"/>
              </a:ext>
            </a:extLst>
          </p:cNvPr>
          <p:cNvSpPr/>
          <p:nvPr/>
        </p:nvSpPr>
        <p:spPr>
          <a:xfrm>
            <a:off x="713232" y="4937760"/>
            <a:ext cx="411480" cy="2286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1200" cap="none" spc="0" baseline="0">
                <a:solidFill>
                  <a:srgbClr val="84BD00"/>
                </a:solidFill>
                <a:uFillTx/>
                <a:latin typeface="Aptos"/>
              </a:rPr>
              <a:t>04</a:t>
            </a: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ECC8C2AB-BD4C-2EE8-934E-7C8B951CE23D}"/>
              </a:ext>
            </a:extLst>
          </p:cNvPr>
          <p:cNvSpPr/>
          <p:nvPr/>
        </p:nvSpPr>
        <p:spPr>
          <a:xfrm>
            <a:off x="1188720" y="4892040"/>
            <a:ext cx="1417320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1200" cap="none" spc="0" baseline="0">
                <a:solidFill>
                  <a:srgbClr val="17212B"/>
                </a:solidFill>
                <a:uFillTx/>
                <a:latin typeface="Aptos"/>
              </a:rPr>
              <a:t>Accès par rôle</a:t>
            </a: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F81300AF-6807-FE98-48E0-0D9A9DC6C56C}"/>
              </a:ext>
            </a:extLst>
          </p:cNvPr>
          <p:cNvSpPr/>
          <p:nvPr/>
        </p:nvSpPr>
        <p:spPr>
          <a:xfrm>
            <a:off x="2606039" y="4864607"/>
            <a:ext cx="4224527" cy="42062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40" b="0" i="0" u="none" strike="noStrike" kern="1200" cap="none" spc="0" baseline="0">
                <a:solidFill>
                  <a:srgbClr val="5D6773"/>
                </a:solidFill>
                <a:uFillTx/>
                <a:latin typeface="Aptos"/>
              </a:rPr>
              <a:t>Administrateur, Chef de projet, Power User et Lecteur avec authentification Windows AD / SSO.</a:t>
            </a:r>
            <a:endParaRPr lang="en-US" sz="104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4AE8166E-2B85-FC07-7EC0-89C333945BF6}"/>
              </a:ext>
            </a:extLst>
          </p:cNvPr>
          <p:cNvSpPr/>
          <p:nvPr/>
        </p:nvSpPr>
        <p:spPr>
          <a:xfrm>
            <a:off x="7424927" y="1874519"/>
            <a:ext cx="4224527" cy="3822191"/>
          </a:xfrm>
          <a:custGeom>
            <a:avLst>
              <a:gd name="f0" fmla="val 258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17212B"/>
          </a:solidFill>
          <a:ln w="12701" cap="flat">
            <a:solidFill>
              <a:srgbClr val="17212B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F351D2E2-347A-FDAE-D99D-27E802E3367A}"/>
              </a:ext>
            </a:extLst>
          </p:cNvPr>
          <p:cNvSpPr/>
          <p:nvPr/>
        </p:nvSpPr>
        <p:spPr>
          <a:xfrm>
            <a:off x="7726680" y="2148839"/>
            <a:ext cx="3566160" cy="2743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00" b="1" i="0" u="none" strike="noStrike" kern="1200" cap="none" spc="0" baseline="0">
                <a:solidFill>
                  <a:srgbClr val="84BD00"/>
                </a:solidFill>
                <a:uFillTx/>
                <a:latin typeface="Aptos"/>
              </a:rPr>
              <a:t>CRITÈRES DE RÉUSSITE MVP</a:t>
            </a:r>
            <a:endParaRPr lang="en-US" sz="13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A9D91D73-6124-3525-26A1-EA8BFFFF818F}"/>
              </a:ext>
            </a:extLst>
          </p:cNvPr>
          <p:cNvSpPr/>
          <p:nvPr/>
        </p:nvSpPr>
        <p:spPr>
          <a:xfrm>
            <a:off x="7754112" y="2606039"/>
            <a:ext cx="228600" cy="18288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00" b="1" i="0" u="none" strike="noStrike" kern="1200" cap="none" spc="0" baseline="0">
                <a:solidFill>
                  <a:srgbClr val="84BD00"/>
                </a:solidFill>
                <a:uFillTx/>
                <a:latin typeface="Aptos"/>
              </a:rPr>
              <a:t>✓</a:t>
            </a:r>
            <a:endParaRPr lang="en-US" sz="10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7654F918-2599-F25B-CFD2-CDB67B4135B1}"/>
              </a:ext>
            </a:extLst>
          </p:cNvPr>
          <p:cNvSpPr/>
          <p:nvPr/>
        </p:nvSpPr>
        <p:spPr>
          <a:xfrm>
            <a:off x="8065008" y="2606039"/>
            <a:ext cx="3154679" cy="20116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60" b="0" i="0" u="none" strike="noStrike" kern="1200" cap="none" spc="0" baseline="0">
                <a:solidFill>
                  <a:srgbClr val="FFFFFF"/>
                </a:solidFill>
                <a:uFillTx/>
                <a:latin typeface="Aptos"/>
              </a:rPr>
              <a:t>Migration Excel vers SQL Server</a:t>
            </a:r>
            <a:endParaRPr lang="en-US" sz="96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8CAA871F-9D20-B2DD-2E0E-0F2F654DA8B6}"/>
              </a:ext>
            </a:extLst>
          </p:cNvPr>
          <p:cNvSpPr/>
          <p:nvPr/>
        </p:nvSpPr>
        <p:spPr>
          <a:xfrm>
            <a:off x="7754112" y="2916936"/>
            <a:ext cx="228600" cy="18288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00" b="1" i="0" u="none" strike="noStrike" kern="1200" cap="none" spc="0" baseline="0">
                <a:solidFill>
                  <a:srgbClr val="84BD00"/>
                </a:solidFill>
                <a:uFillTx/>
                <a:latin typeface="Aptos"/>
              </a:rPr>
              <a:t>✓</a:t>
            </a:r>
            <a:endParaRPr lang="en-US" sz="10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263411D5-EBDF-D88A-5B38-205CC477FBFB}"/>
              </a:ext>
            </a:extLst>
          </p:cNvPr>
          <p:cNvSpPr/>
          <p:nvPr/>
        </p:nvSpPr>
        <p:spPr>
          <a:xfrm>
            <a:off x="8065008" y="2916936"/>
            <a:ext cx="3154679" cy="20116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60" b="0" i="0" u="none" strike="noStrike" kern="1200" cap="none" spc="0" baseline="0">
                <a:solidFill>
                  <a:srgbClr val="FFFFFF"/>
                </a:solidFill>
                <a:uFillTx/>
                <a:latin typeface="Aptos"/>
              </a:rPr>
              <a:t>Gestion d’au moins 500 projets</a:t>
            </a:r>
            <a:endParaRPr lang="en-US" sz="96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723FC1E6-B857-1E1D-3CC2-C4FB8D06EAB0}"/>
              </a:ext>
            </a:extLst>
          </p:cNvPr>
          <p:cNvSpPr/>
          <p:nvPr/>
        </p:nvSpPr>
        <p:spPr>
          <a:xfrm>
            <a:off x="7754112" y="3227832"/>
            <a:ext cx="228600" cy="18288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00" b="1" i="0" u="none" strike="noStrike" kern="1200" cap="none" spc="0" baseline="0">
                <a:solidFill>
                  <a:srgbClr val="84BD00"/>
                </a:solidFill>
                <a:uFillTx/>
                <a:latin typeface="Aptos"/>
              </a:rPr>
              <a:t>✓</a:t>
            </a:r>
            <a:endParaRPr lang="en-US" sz="10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9A42D104-94C3-4626-0FCA-D1589488BD97}"/>
              </a:ext>
            </a:extLst>
          </p:cNvPr>
          <p:cNvSpPr/>
          <p:nvPr/>
        </p:nvSpPr>
        <p:spPr>
          <a:xfrm>
            <a:off x="8065008" y="3227832"/>
            <a:ext cx="3154679" cy="20116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60" b="0" i="0" u="none" strike="noStrike" kern="1200" cap="none" spc="0" baseline="0">
                <a:solidFill>
                  <a:srgbClr val="FFFFFF"/>
                </a:solidFill>
                <a:uFillTx/>
                <a:latin typeface="Aptos"/>
              </a:rPr>
              <a:t>Authentification Active Directory</a:t>
            </a:r>
            <a:endParaRPr lang="en-US" sz="96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F42FC7CF-0398-EFB1-F5C1-1B45158DF66A}"/>
              </a:ext>
            </a:extLst>
          </p:cNvPr>
          <p:cNvSpPr/>
          <p:nvPr/>
        </p:nvSpPr>
        <p:spPr>
          <a:xfrm>
            <a:off x="7754112" y="3538727"/>
            <a:ext cx="228600" cy="18288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00" b="1" i="0" u="none" strike="noStrike" kern="1200" cap="none" spc="0" baseline="0">
                <a:solidFill>
                  <a:srgbClr val="84BD00"/>
                </a:solidFill>
                <a:uFillTx/>
                <a:latin typeface="Aptos"/>
              </a:rPr>
              <a:t>✓</a:t>
            </a:r>
            <a:endParaRPr lang="en-US" sz="10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91A92355-3F76-C490-22ED-8CBB36B826DE}"/>
              </a:ext>
            </a:extLst>
          </p:cNvPr>
          <p:cNvSpPr/>
          <p:nvPr/>
        </p:nvSpPr>
        <p:spPr>
          <a:xfrm>
            <a:off x="8065008" y="3538727"/>
            <a:ext cx="3154679" cy="20116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60" b="0" i="0" u="none" strike="noStrike" kern="1200" cap="none" spc="0" baseline="0">
                <a:solidFill>
                  <a:srgbClr val="FFFFFF"/>
                </a:solidFill>
                <a:uFillTx/>
                <a:latin typeface="Aptos"/>
              </a:rPr>
              <a:t>Dashboard en temps réel</a:t>
            </a:r>
            <a:endParaRPr lang="en-US" sz="96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5ECE5CF8-3692-A68A-8E54-7DCB014242D9}"/>
              </a:ext>
            </a:extLst>
          </p:cNvPr>
          <p:cNvSpPr/>
          <p:nvPr/>
        </p:nvSpPr>
        <p:spPr>
          <a:xfrm>
            <a:off x="7754112" y="3849624"/>
            <a:ext cx="228600" cy="18288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00" b="1" i="0" u="none" strike="noStrike" kern="1200" cap="none" spc="0" baseline="0">
                <a:solidFill>
                  <a:srgbClr val="84BD00"/>
                </a:solidFill>
                <a:uFillTx/>
                <a:latin typeface="Aptos"/>
              </a:rPr>
              <a:t>✓</a:t>
            </a:r>
            <a:endParaRPr lang="en-US" sz="10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180A8C92-FF89-7117-A8E6-3149A703198B}"/>
              </a:ext>
            </a:extLst>
          </p:cNvPr>
          <p:cNvSpPr/>
          <p:nvPr/>
        </p:nvSpPr>
        <p:spPr>
          <a:xfrm>
            <a:off x="8065008" y="3849624"/>
            <a:ext cx="3154679" cy="20116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60" b="0" i="0" u="none" strike="noStrike" kern="1200" cap="none" spc="0" baseline="0">
                <a:solidFill>
                  <a:srgbClr val="FFFFFF"/>
                </a:solidFill>
                <a:uFillTx/>
                <a:latin typeface="Aptos"/>
              </a:rPr>
              <a:t>Recherche multicritères</a:t>
            </a:r>
            <a:endParaRPr lang="en-US" sz="96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EEBEA08A-C2B7-7922-E158-BFE9EEE1EA50}"/>
              </a:ext>
            </a:extLst>
          </p:cNvPr>
          <p:cNvSpPr/>
          <p:nvPr/>
        </p:nvSpPr>
        <p:spPr>
          <a:xfrm>
            <a:off x="7754112" y="4160520"/>
            <a:ext cx="228600" cy="18288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00" b="1" i="0" u="none" strike="noStrike" kern="1200" cap="none" spc="0" baseline="0">
                <a:solidFill>
                  <a:srgbClr val="84BD00"/>
                </a:solidFill>
                <a:uFillTx/>
                <a:latin typeface="Aptos"/>
              </a:rPr>
              <a:t>✓</a:t>
            </a:r>
            <a:endParaRPr lang="en-US" sz="10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7756E390-EAC5-531A-197D-5721DC2332CC}"/>
              </a:ext>
            </a:extLst>
          </p:cNvPr>
          <p:cNvSpPr/>
          <p:nvPr/>
        </p:nvSpPr>
        <p:spPr>
          <a:xfrm>
            <a:off x="8065008" y="4160520"/>
            <a:ext cx="3154679" cy="20116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60" b="0" i="0" u="none" strike="noStrike" kern="1200" cap="none" spc="0" baseline="0">
                <a:solidFill>
                  <a:srgbClr val="FFFFFF"/>
                </a:solidFill>
                <a:uFillTx/>
                <a:latin typeface="Aptos"/>
              </a:rPr>
              <a:t>Export Excel et PDF</a:t>
            </a:r>
            <a:endParaRPr lang="en-US" sz="96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5A518CF1-B6E3-6898-B24C-A8D43B5991DE}"/>
              </a:ext>
            </a:extLst>
          </p:cNvPr>
          <p:cNvSpPr/>
          <p:nvPr/>
        </p:nvSpPr>
        <p:spPr>
          <a:xfrm>
            <a:off x="7754112" y="4471416"/>
            <a:ext cx="228600" cy="18288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00" b="1" i="0" u="none" strike="noStrike" kern="1200" cap="none" spc="0" baseline="0">
                <a:solidFill>
                  <a:srgbClr val="84BD00"/>
                </a:solidFill>
                <a:uFillTx/>
                <a:latin typeface="Aptos"/>
              </a:rPr>
              <a:t>✓</a:t>
            </a:r>
            <a:endParaRPr lang="en-US" sz="10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935FCA0A-E718-2DCB-8DDA-F2B97E43388E}"/>
              </a:ext>
            </a:extLst>
          </p:cNvPr>
          <p:cNvSpPr/>
          <p:nvPr/>
        </p:nvSpPr>
        <p:spPr>
          <a:xfrm>
            <a:off x="8065008" y="4471416"/>
            <a:ext cx="3154679" cy="20116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60" b="0" i="0" u="none" strike="noStrike" kern="1200" cap="none" spc="0" baseline="0">
                <a:solidFill>
                  <a:srgbClr val="FFFFFF"/>
                </a:solidFill>
                <a:uFillTx/>
                <a:latin typeface="Aptos"/>
              </a:rPr>
              <a:t>Interface responsive</a:t>
            </a:r>
            <a:endParaRPr lang="en-US" sz="96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EA65200F-58F6-848B-FE6F-D7D30448A213}"/>
              </a:ext>
            </a:extLst>
          </p:cNvPr>
          <p:cNvSpPr/>
          <p:nvPr/>
        </p:nvSpPr>
        <p:spPr>
          <a:xfrm>
            <a:off x="7754112" y="4782312"/>
            <a:ext cx="228600" cy="18288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00" b="1" i="0" u="none" strike="noStrike" kern="1200" cap="none" spc="0" baseline="0">
                <a:solidFill>
                  <a:srgbClr val="84BD00"/>
                </a:solidFill>
                <a:uFillTx/>
                <a:latin typeface="Aptos"/>
              </a:rPr>
              <a:t>✓</a:t>
            </a:r>
            <a:endParaRPr lang="en-US" sz="10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88E13033-3B43-6374-AE9F-2FC6196FB2F6}"/>
              </a:ext>
            </a:extLst>
          </p:cNvPr>
          <p:cNvSpPr/>
          <p:nvPr/>
        </p:nvSpPr>
        <p:spPr>
          <a:xfrm>
            <a:off x="8065008" y="4782312"/>
            <a:ext cx="3154679" cy="20116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60" b="0" i="0" u="none" strike="noStrike" kern="1200" cap="none" spc="0" baseline="0">
                <a:solidFill>
                  <a:srgbClr val="FFFFFF"/>
                </a:solidFill>
                <a:uFillTx/>
                <a:latin typeface="Aptos"/>
              </a:rPr>
              <a:t>Affichage inférieur à 3 secondes</a:t>
            </a:r>
            <a:endParaRPr lang="en-US" sz="96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7FB56E65-05A5-2D20-B17D-9B5456458931}"/>
              </a:ext>
            </a:extLst>
          </p:cNvPr>
          <p:cNvSpPr/>
          <p:nvPr/>
        </p:nvSpPr>
        <p:spPr>
          <a:xfrm>
            <a:off x="7754112" y="5093208"/>
            <a:ext cx="228600" cy="18288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00" b="1" i="0" u="none" strike="noStrike" kern="1200" cap="none" spc="0" baseline="0">
                <a:solidFill>
                  <a:srgbClr val="84BD00"/>
                </a:solidFill>
                <a:uFillTx/>
                <a:latin typeface="Aptos"/>
              </a:rPr>
              <a:t>✓</a:t>
            </a:r>
            <a:endParaRPr lang="en-US" sz="10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8CC4B917-5882-310B-97D1-81F351A0D32E}"/>
              </a:ext>
            </a:extLst>
          </p:cNvPr>
          <p:cNvSpPr/>
          <p:nvPr/>
        </p:nvSpPr>
        <p:spPr>
          <a:xfrm>
            <a:off x="8065008" y="5093208"/>
            <a:ext cx="3154679" cy="20116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60" b="0" i="0" u="none" strike="noStrike" kern="1200" cap="none" spc="0" baseline="0">
                <a:solidFill>
                  <a:srgbClr val="FFFFFF"/>
                </a:solidFill>
                <a:uFillTx/>
                <a:latin typeface="Aptos"/>
              </a:rPr>
              <a:t>Historisation complète</a:t>
            </a:r>
            <a:endParaRPr lang="en-US" sz="96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0795DFEF-A76E-A684-8C99-BE2DC4548E3F}"/>
              </a:ext>
            </a:extLst>
          </p:cNvPr>
          <p:cNvSpPr/>
          <p:nvPr/>
        </p:nvSpPr>
        <p:spPr>
          <a:xfrm>
            <a:off x="530352" y="5943600"/>
            <a:ext cx="2103120" cy="310896"/>
          </a:xfrm>
          <a:custGeom>
            <a:avLst>
              <a:gd name="f0" fmla="val 5082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5A623"/>
          </a:solidFill>
          <a:ln w="12701" cap="flat">
            <a:solidFill>
              <a:srgbClr val="F5A623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80B8DD96-1039-C242-66DF-5B815833F731}"/>
              </a:ext>
            </a:extLst>
          </p:cNvPr>
          <p:cNvSpPr/>
          <p:nvPr/>
        </p:nvSpPr>
        <p:spPr>
          <a:xfrm>
            <a:off x="530352" y="5952744"/>
            <a:ext cx="2103120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0" baseline="0">
                <a:solidFill>
                  <a:srgbClr val="FFFFFF"/>
                </a:solidFill>
                <a:uFillTx/>
                <a:latin typeface="Aptos"/>
              </a:rPr>
              <a:t>VALIDATEUR : À CONFIRMER</a:t>
            </a:r>
            <a:endParaRPr lang="en-US" sz="9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87BE64E1-A12F-ED1A-1902-857527C06888}"/>
              </a:ext>
            </a:extLst>
          </p:cNvPr>
          <p:cNvSpPr/>
          <p:nvPr/>
        </p:nvSpPr>
        <p:spPr>
          <a:xfrm>
            <a:off x="2834640" y="5943600"/>
            <a:ext cx="3429000" cy="310896"/>
          </a:xfrm>
          <a:custGeom>
            <a:avLst>
              <a:gd name="f0" fmla="val 5082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84BD00"/>
          </a:solidFill>
          <a:ln w="12701" cap="flat">
            <a:solidFill>
              <a:srgbClr val="84BD00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FD83BF55-85BA-F4EF-5A89-FEB92254E4CB}"/>
              </a:ext>
            </a:extLst>
          </p:cNvPr>
          <p:cNvSpPr/>
          <p:nvPr/>
        </p:nvSpPr>
        <p:spPr>
          <a:xfrm>
            <a:off x="2834640" y="5952744"/>
            <a:ext cx="3429000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0" baseline="0">
                <a:solidFill>
                  <a:srgbClr val="FFFFFF"/>
                </a:solidFill>
                <a:uFillTx/>
                <a:latin typeface="Aptos"/>
              </a:rPr>
              <a:t>PROPRIÉTAIRE : HEAD OF IT - DIGITALISATION</a:t>
            </a:r>
            <a:endParaRPr lang="en-US" sz="9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45" name="Shape 43">
            <a:extLst>
              <a:ext uri="{FF2B5EF4-FFF2-40B4-BE49-F238E27FC236}">
                <a16:creationId xmlns:a16="http://schemas.microsoft.com/office/drawing/2014/main" id="{93315560-83B5-49CA-743F-418E0FD4AA10}"/>
              </a:ext>
            </a:extLst>
          </p:cNvPr>
          <p:cNvSpPr/>
          <p:nvPr/>
        </p:nvSpPr>
        <p:spPr>
          <a:xfrm>
            <a:off x="6446520" y="5943600"/>
            <a:ext cx="2240279" cy="310896"/>
          </a:xfrm>
          <a:custGeom>
            <a:avLst>
              <a:gd name="f0" fmla="val 5082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5D6773"/>
          </a:solidFill>
          <a:ln w="12701" cap="flat">
            <a:solidFill>
              <a:srgbClr val="5D6773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A92DA228-C16D-5938-4502-7B5655DEC66F}"/>
              </a:ext>
            </a:extLst>
          </p:cNvPr>
          <p:cNvSpPr/>
          <p:nvPr/>
        </p:nvSpPr>
        <p:spPr>
          <a:xfrm>
            <a:off x="6446520" y="5952744"/>
            <a:ext cx="2240279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0" baseline="0">
                <a:solidFill>
                  <a:srgbClr val="FFFFFF"/>
                </a:solidFill>
                <a:uFillTx/>
                <a:latin typeface="Aptos"/>
              </a:rPr>
              <a:t>DATE LIMITE : À CONFIRMER</a:t>
            </a:r>
            <a:endParaRPr lang="en-US" sz="9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47" name="Slide Number Placeholder 0">
            <a:extLst>
              <a:ext uri="{FF2B5EF4-FFF2-40B4-BE49-F238E27FC236}">
                <a16:creationId xmlns:a16="http://schemas.microsoft.com/office/drawing/2014/main" id="{99D6A546-5DCD-F895-01D2-2367D38F6897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AB9FA37B-592F-421A-84FB-ADAF8DFE0D92}" type="slidenum"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C6E307D-6AD3-4C0E-A5DC-D14220503341}"/>
              </a:ext>
            </a:extLst>
          </p:cNvPr>
          <p:cNvSpPr/>
          <p:nvPr/>
        </p:nvSpPr>
        <p:spPr>
          <a:xfrm>
            <a:off x="530352" y="621792"/>
            <a:ext cx="2743200" cy="2286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00" b="1" i="0" u="none" strike="noStrike" kern="0" cap="none" spc="120" baseline="0">
                <a:solidFill>
                  <a:srgbClr val="84BD00"/>
                </a:solidFill>
                <a:uFillTx/>
                <a:latin typeface="Aptos"/>
              </a:rPr>
              <a:t>GLOSSAIRE</a:t>
            </a:r>
            <a:endParaRPr lang="en-US" sz="10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FBFAA01-1C48-C4AE-082F-6D176E60A6EE}"/>
              </a:ext>
            </a:extLst>
          </p:cNvPr>
          <p:cNvSpPr/>
          <p:nvPr/>
        </p:nvSpPr>
        <p:spPr>
          <a:xfrm>
            <a:off x="502920" y="877824"/>
            <a:ext cx="10972800" cy="56692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700" b="1" i="0" u="none" strike="noStrike" kern="1200" cap="none" spc="0" baseline="0">
                <a:solidFill>
                  <a:srgbClr val="17212B"/>
                </a:solidFill>
                <a:uFillTx/>
                <a:latin typeface="Aptos"/>
              </a:rPr>
              <a:t>Glossaire &amp; Acronymes</a:t>
            </a:r>
            <a:endParaRPr lang="en-US" sz="27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A4CC076-DB1B-88F9-1C49-0BDAE16D8BA1}"/>
              </a:ext>
            </a:extLst>
          </p:cNvPr>
          <p:cNvSpPr/>
          <p:nvPr/>
        </p:nvSpPr>
        <p:spPr>
          <a:xfrm>
            <a:off x="530352" y="1481328"/>
            <a:ext cx="10789920" cy="34747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50" b="0" i="0" u="none" strike="noStrike" kern="1200" cap="none" spc="0" baseline="0">
                <a:solidFill>
                  <a:srgbClr val="5D6773"/>
                </a:solidFill>
                <a:uFillTx/>
                <a:latin typeface="Aptos"/>
              </a:rPr>
              <a:t>Termes utilisés dans le RFC et le cahier des charges du projet.</a:t>
            </a:r>
            <a:endParaRPr lang="en-US" sz="125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BCDCC57E-C3AC-6E63-AB03-EE7AC953FE33}"/>
              </a:ext>
            </a:extLst>
          </p:cNvPr>
          <p:cNvSpPr/>
          <p:nvPr/>
        </p:nvSpPr>
        <p:spPr>
          <a:xfrm>
            <a:off x="530352" y="1874519"/>
            <a:ext cx="1024128" cy="356616"/>
          </a:xfrm>
          <a:custGeom>
            <a:avLst>
              <a:gd name="f0" fmla="val 2215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84BD00"/>
          </a:solidFill>
          <a:ln w="12701" cap="flat">
            <a:solidFill>
              <a:srgbClr val="84BD00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0694A5F-B4A6-876E-E74A-BAD33C15F14E}"/>
              </a:ext>
            </a:extLst>
          </p:cNvPr>
          <p:cNvSpPr/>
          <p:nvPr/>
        </p:nvSpPr>
        <p:spPr>
          <a:xfrm>
            <a:off x="576072" y="1938528"/>
            <a:ext cx="932688" cy="1645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30" b="1" i="0" u="none" strike="noStrike" kern="1200" cap="none" spc="0" baseline="0">
                <a:solidFill>
                  <a:srgbClr val="FFFFFF"/>
                </a:solidFill>
                <a:uFillTx/>
                <a:latin typeface="Aptos"/>
              </a:rPr>
              <a:t>PMO</a:t>
            </a:r>
            <a:endParaRPr lang="en-US" sz="93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BFE9D35-A6DF-AFE3-1FF6-426498B5EC7C}"/>
              </a:ext>
            </a:extLst>
          </p:cNvPr>
          <p:cNvSpPr/>
          <p:nvPr/>
        </p:nvSpPr>
        <p:spPr>
          <a:xfrm>
            <a:off x="1719072" y="1883664"/>
            <a:ext cx="1874519" cy="20116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1" i="0" u="none" strike="noStrike" kern="1200" cap="none" spc="0" baseline="0">
                <a:solidFill>
                  <a:srgbClr val="17212B"/>
                </a:solidFill>
                <a:uFillTx/>
                <a:latin typeface="Aptos"/>
              </a:rPr>
              <a:t>Project Management Office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86F0FC3-5ADD-E7F6-4273-D07DDD6EEC21}"/>
              </a:ext>
            </a:extLst>
          </p:cNvPr>
          <p:cNvSpPr/>
          <p:nvPr/>
        </p:nvSpPr>
        <p:spPr>
          <a:xfrm>
            <a:off x="1719072" y="2093976"/>
            <a:ext cx="4187952" cy="21945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80" b="0" i="0" u="none" strike="noStrike" kern="1200" cap="none" spc="0" baseline="0">
                <a:solidFill>
                  <a:srgbClr val="5D6773"/>
                </a:solidFill>
                <a:uFillTx/>
                <a:latin typeface="Aptos"/>
              </a:rPr>
              <a:t>Bureau de gestion et de gouvernance des projets.</a:t>
            </a:r>
            <a:endParaRPr lang="en-US" sz="88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B103558F-94D3-682F-9756-59A9980D4A8E}"/>
              </a:ext>
            </a:extLst>
          </p:cNvPr>
          <p:cNvSpPr/>
          <p:nvPr/>
        </p:nvSpPr>
        <p:spPr>
          <a:xfrm>
            <a:off x="1719072" y="2359152"/>
            <a:ext cx="4187952" cy="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4">
                <a:pos x="f34" y="f34"/>
              </a:cxn>
              <a:cxn ang="f25">
                <a:pos x="f35" y="f36"/>
              </a:cxn>
            </a:cxnLst>
            <a:rect l="f31" t="f31" r="f32" b="f33"/>
            <a:pathLst>
              <a:path>
                <a:moveTo>
                  <a:pt x="f34" y="f34"/>
                </a:moveTo>
                <a:lnTo>
                  <a:pt x="f35" y="f36"/>
                </a:lnTo>
              </a:path>
            </a:pathLst>
          </a:custGeom>
          <a:noFill/>
          <a:ln w="8887" cap="flat">
            <a:solidFill>
              <a:srgbClr val="E2E6EA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1E5F96F7-0FD9-5702-9E81-A89C5FFF9E27}"/>
              </a:ext>
            </a:extLst>
          </p:cNvPr>
          <p:cNvSpPr/>
          <p:nvPr/>
        </p:nvSpPr>
        <p:spPr>
          <a:xfrm>
            <a:off x="530352" y="2395728"/>
            <a:ext cx="1024128" cy="356616"/>
          </a:xfrm>
          <a:custGeom>
            <a:avLst>
              <a:gd name="f0" fmla="val 2215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17212B"/>
          </a:solidFill>
          <a:ln w="12701" cap="flat">
            <a:solidFill>
              <a:srgbClr val="17212B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3D9516B9-DF46-DF0D-3DB5-8D5008123FC8}"/>
              </a:ext>
            </a:extLst>
          </p:cNvPr>
          <p:cNvSpPr/>
          <p:nvPr/>
        </p:nvSpPr>
        <p:spPr>
          <a:xfrm>
            <a:off x="576072" y="2459736"/>
            <a:ext cx="932688" cy="1645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30" b="1" i="0" u="none" strike="noStrike" kern="1200" cap="none" spc="0" baseline="0">
                <a:solidFill>
                  <a:srgbClr val="FFFFFF"/>
                </a:solidFill>
                <a:uFillTx/>
                <a:latin typeface="Aptos"/>
              </a:rPr>
              <a:t>RFC</a:t>
            </a:r>
            <a:endParaRPr lang="en-US" sz="93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66F008C1-77E4-0E7C-6384-8D88E545E1B8}"/>
              </a:ext>
            </a:extLst>
          </p:cNvPr>
          <p:cNvSpPr/>
          <p:nvPr/>
        </p:nvSpPr>
        <p:spPr>
          <a:xfrm>
            <a:off x="1719072" y="2404872"/>
            <a:ext cx="1874519" cy="20116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1" i="0" u="none" strike="noStrike" kern="1200" cap="none" spc="0" baseline="0">
                <a:solidFill>
                  <a:srgbClr val="17212B"/>
                </a:solidFill>
                <a:uFillTx/>
                <a:latin typeface="Aptos"/>
              </a:rPr>
              <a:t>Request for Change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A5DF0AC3-6D98-EC5B-631A-DBA5960DEA3C}"/>
              </a:ext>
            </a:extLst>
          </p:cNvPr>
          <p:cNvSpPr/>
          <p:nvPr/>
        </p:nvSpPr>
        <p:spPr>
          <a:xfrm>
            <a:off x="1719072" y="2615184"/>
            <a:ext cx="4187952" cy="21945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80" b="0" i="0" u="none" strike="noStrike" kern="1200" cap="none" spc="0" baseline="0">
                <a:solidFill>
                  <a:srgbClr val="5D6773"/>
                </a:solidFill>
                <a:uFillTx/>
                <a:latin typeface="Aptos"/>
              </a:rPr>
              <a:t>Demande formelle de changement ou de nouveau projet.</a:t>
            </a:r>
            <a:endParaRPr lang="en-US" sz="88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40AFB206-7D95-376F-5928-B2E9929549DF}"/>
              </a:ext>
            </a:extLst>
          </p:cNvPr>
          <p:cNvSpPr/>
          <p:nvPr/>
        </p:nvSpPr>
        <p:spPr>
          <a:xfrm>
            <a:off x="1719072" y="2880360"/>
            <a:ext cx="4187952" cy="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4">
                <a:pos x="f34" y="f34"/>
              </a:cxn>
              <a:cxn ang="f25">
                <a:pos x="f35" y="f36"/>
              </a:cxn>
            </a:cxnLst>
            <a:rect l="f31" t="f31" r="f32" b="f33"/>
            <a:pathLst>
              <a:path>
                <a:moveTo>
                  <a:pt x="f34" y="f34"/>
                </a:moveTo>
                <a:lnTo>
                  <a:pt x="f35" y="f36"/>
                </a:lnTo>
              </a:path>
            </a:pathLst>
          </a:custGeom>
          <a:noFill/>
          <a:ln w="8887" cap="flat">
            <a:solidFill>
              <a:srgbClr val="E2E6EA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B53B31E5-9DBB-E238-711D-F28013EEB810}"/>
              </a:ext>
            </a:extLst>
          </p:cNvPr>
          <p:cNvSpPr/>
          <p:nvPr/>
        </p:nvSpPr>
        <p:spPr>
          <a:xfrm>
            <a:off x="530352" y="2916936"/>
            <a:ext cx="1024128" cy="356616"/>
          </a:xfrm>
          <a:custGeom>
            <a:avLst>
              <a:gd name="f0" fmla="val 2215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84BD00"/>
          </a:solidFill>
          <a:ln w="12701" cap="flat">
            <a:solidFill>
              <a:srgbClr val="84BD00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9036DE4F-6EB6-1336-190A-2DCF33D72D96}"/>
              </a:ext>
            </a:extLst>
          </p:cNvPr>
          <p:cNvSpPr/>
          <p:nvPr/>
        </p:nvSpPr>
        <p:spPr>
          <a:xfrm>
            <a:off x="576072" y="2980944"/>
            <a:ext cx="932688" cy="1645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30" b="1" i="0" u="none" strike="noStrike" kern="1200" cap="none" spc="0" baseline="0">
                <a:solidFill>
                  <a:srgbClr val="FFFFFF"/>
                </a:solidFill>
                <a:uFillTx/>
                <a:latin typeface="Aptos"/>
              </a:rPr>
              <a:t>MVP</a:t>
            </a:r>
            <a:endParaRPr lang="en-US" sz="93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316788A5-4137-2649-6946-3527AEB9901A}"/>
              </a:ext>
            </a:extLst>
          </p:cNvPr>
          <p:cNvSpPr/>
          <p:nvPr/>
        </p:nvSpPr>
        <p:spPr>
          <a:xfrm>
            <a:off x="1719072" y="2926080"/>
            <a:ext cx="1874519" cy="20116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1" i="0" u="none" strike="noStrike" kern="1200" cap="none" spc="0" baseline="0">
                <a:solidFill>
                  <a:srgbClr val="17212B"/>
                </a:solidFill>
                <a:uFillTx/>
                <a:latin typeface="Aptos"/>
              </a:rPr>
              <a:t>Minimum Viable Product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49BDC004-06D6-1232-3498-2E7A3847285D}"/>
              </a:ext>
            </a:extLst>
          </p:cNvPr>
          <p:cNvSpPr/>
          <p:nvPr/>
        </p:nvSpPr>
        <p:spPr>
          <a:xfrm>
            <a:off x="1719072" y="3136391"/>
            <a:ext cx="4187952" cy="21945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80" b="0" i="0" u="none" strike="noStrike" kern="1200" cap="none" spc="0" baseline="0">
                <a:solidFill>
                  <a:srgbClr val="5D6773"/>
                </a:solidFill>
                <a:uFillTx/>
                <a:latin typeface="Aptos"/>
              </a:rPr>
              <a:t>Première version opérationnelle avec les fonctions essentielles.</a:t>
            </a:r>
            <a:endParaRPr lang="en-US" sz="88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B55C0D9C-6D97-3688-1E0C-A4D676953F2A}"/>
              </a:ext>
            </a:extLst>
          </p:cNvPr>
          <p:cNvSpPr/>
          <p:nvPr/>
        </p:nvSpPr>
        <p:spPr>
          <a:xfrm>
            <a:off x="1719072" y="3401568"/>
            <a:ext cx="4187952" cy="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4">
                <a:pos x="f34" y="f34"/>
              </a:cxn>
              <a:cxn ang="f25">
                <a:pos x="f35" y="f36"/>
              </a:cxn>
            </a:cxnLst>
            <a:rect l="f31" t="f31" r="f32" b="f33"/>
            <a:pathLst>
              <a:path>
                <a:moveTo>
                  <a:pt x="f34" y="f34"/>
                </a:moveTo>
                <a:lnTo>
                  <a:pt x="f35" y="f36"/>
                </a:lnTo>
              </a:path>
            </a:pathLst>
          </a:custGeom>
          <a:noFill/>
          <a:ln w="8887" cap="flat">
            <a:solidFill>
              <a:srgbClr val="E2E6EA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C0746A22-766E-7C95-B4E2-8D1B5BEE2397}"/>
              </a:ext>
            </a:extLst>
          </p:cNvPr>
          <p:cNvSpPr/>
          <p:nvPr/>
        </p:nvSpPr>
        <p:spPr>
          <a:xfrm>
            <a:off x="530352" y="3438144"/>
            <a:ext cx="1024128" cy="356616"/>
          </a:xfrm>
          <a:custGeom>
            <a:avLst>
              <a:gd name="f0" fmla="val 2215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17212B"/>
          </a:solidFill>
          <a:ln w="12701" cap="flat">
            <a:solidFill>
              <a:srgbClr val="17212B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75C696BB-4018-67F9-F4FC-B681D8605D99}"/>
              </a:ext>
            </a:extLst>
          </p:cNvPr>
          <p:cNvSpPr/>
          <p:nvPr/>
        </p:nvSpPr>
        <p:spPr>
          <a:xfrm>
            <a:off x="576072" y="3502151"/>
            <a:ext cx="932688" cy="1645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30" b="1" i="0" u="none" strike="noStrike" kern="1200" cap="none" spc="0" baseline="0">
                <a:solidFill>
                  <a:srgbClr val="FFFFFF"/>
                </a:solidFill>
                <a:uFillTx/>
                <a:latin typeface="Aptos"/>
              </a:rPr>
              <a:t>SSO</a:t>
            </a:r>
            <a:endParaRPr lang="en-US" sz="93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477C3ABA-05F9-532F-5721-78DE413A40D9}"/>
              </a:ext>
            </a:extLst>
          </p:cNvPr>
          <p:cNvSpPr/>
          <p:nvPr/>
        </p:nvSpPr>
        <p:spPr>
          <a:xfrm>
            <a:off x="1719072" y="3447288"/>
            <a:ext cx="1874519" cy="20116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1" i="0" u="none" strike="noStrike" kern="1200" cap="none" spc="0" baseline="0">
                <a:solidFill>
                  <a:srgbClr val="17212B"/>
                </a:solidFill>
                <a:uFillTx/>
                <a:latin typeface="Aptos"/>
              </a:rPr>
              <a:t>Single Sign-On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8B829FEC-D32A-58E8-57E3-AA4971F37B6E}"/>
              </a:ext>
            </a:extLst>
          </p:cNvPr>
          <p:cNvSpPr/>
          <p:nvPr/>
        </p:nvSpPr>
        <p:spPr>
          <a:xfrm>
            <a:off x="1719072" y="3657600"/>
            <a:ext cx="4187952" cy="21945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80" b="0" i="0" u="none" strike="noStrike" kern="1200" cap="none" spc="0" baseline="0">
                <a:solidFill>
                  <a:srgbClr val="5D6773"/>
                </a:solidFill>
                <a:uFillTx/>
                <a:latin typeface="Aptos"/>
              </a:rPr>
              <a:t>Authentification unique avec le compte de l’entreprise.</a:t>
            </a:r>
            <a:endParaRPr lang="en-US" sz="88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709021E3-F16E-D010-9EAE-E76236A5580E}"/>
              </a:ext>
            </a:extLst>
          </p:cNvPr>
          <p:cNvSpPr/>
          <p:nvPr/>
        </p:nvSpPr>
        <p:spPr>
          <a:xfrm>
            <a:off x="1719072" y="3922776"/>
            <a:ext cx="4187952" cy="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4">
                <a:pos x="f34" y="f34"/>
              </a:cxn>
              <a:cxn ang="f25">
                <a:pos x="f35" y="f36"/>
              </a:cxn>
            </a:cxnLst>
            <a:rect l="f31" t="f31" r="f32" b="f33"/>
            <a:pathLst>
              <a:path>
                <a:moveTo>
                  <a:pt x="f34" y="f34"/>
                </a:moveTo>
                <a:lnTo>
                  <a:pt x="f35" y="f36"/>
                </a:lnTo>
              </a:path>
            </a:pathLst>
          </a:custGeom>
          <a:noFill/>
          <a:ln w="8887" cap="flat">
            <a:solidFill>
              <a:srgbClr val="E2E6EA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9C596F75-278F-46E3-2BFF-E911AFA8BA47}"/>
              </a:ext>
            </a:extLst>
          </p:cNvPr>
          <p:cNvSpPr/>
          <p:nvPr/>
        </p:nvSpPr>
        <p:spPr>
          <a:xfrm>
            <a:off x="530352" y="3959352"/>
            <a:ext cx="1024128" cy="356616"/>
          </a:xfrm>
          <a:custGeom>
            <a:avLst>
              <a:gd name="f0" fmla="val 2215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84BD00"/>
          </a:solidFill>
          <a:ln w="12701" cap="flat">
            <a:solidFill>
              <a:srgbClr val="84BD00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D471D1A9-C185-8077-4BFA-F5D0703EE0CA}"/>
              </a:ext>
            </a:extLst>
          </p:cNvPr>
          <p:cNvSpPr/>
          <p:nvPr/>
        </p:nvSpPr>
        <p:spPr>
          <a:xfrm>
            <a:off x="576072" y="4023360"/>
            <a:ext cx="932688" cy="1645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30" b="1" i="0" u="none" strike="noStrike" kern="1200" cap="none" spc="0" baseline="0">
                <a:solidFill>
                  <a:srgbClr val="FFFFFF"/>
                </a:solidFill>
                <a:uFillTx/>
                <a:latin typeface="Aptos"/>
              </a:rPr>
              <a:t>AD</a:t>
            </a:r>
            <a:endParaRPr lang="en-US" sz="93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9FCB0C59-70E4-B03A-56E4-117A47F7CE6B}"/>
              </a:ext>
            </a:extLst>
          </p:cNvPr>
          <p:cNvSpPr/>
          <p:nvPr/>
        </p:nvSpPr>
        <p:spPr>
          <a:xfrm>
            <a:off x="1719072" y="3968496"/>
            <a:ext cx="1874519" cy="20116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1" i="0" u="none" strike="noStrike" kern="1200" cap="none" spc="0" baseline="0">
                <a:solidFill>
                  <a:srgbClr val="17212B"/>
                </a:solidFill>
                <a:uFillTx/>
                <a:latin typeface="Aptos"/>
              </a:rPr>
              <a:t>Active Directory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51E855A7-61A7-4A22-41A8-DD85F66DA20B}"/>
              </a:ext>
            </a:extLst>
          </p:cNvPr>
          <p:cNvSpPr/>
          <p:nvPr/>
        </p:nvSpPr>
        <p:spPr>
          <a:xfrm>
            <a:off x="1719072" y="4178808"/>
            <a:ext cx="4187952" cy="21945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80" b="0" i="0" u="none" strike="noStrike" kern="1200" cap="none" spc="0" baseline="0">
                <a:solidFill>
                  <a:srgbClr val="5D6773"/>
                </a:solidFill>
                <a:uFillTx/>
                <a:latin typeface="Aptos"/>
              </a:rPr>
              <a:t>Annuaire Microsoft utilisé pour gérer les comptes et accès.</a:t>
            </a:r>
            <a:endParaRPr lang="en-US" sz="88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D6FAEBDC-7BD4-57D5-CB82-A7E7A8A0A9CE}"/>
              </a:ext>
            </a:extLst>
          </p:cNvPr>
          <p:cNvSpPr/>
          <p:nvPr/>
        </p:nvSpPr>
        <p:spPr>
          <a:xfrm>
            <a:off x="1719072" y="4443983"/>
            <a:ext cx="4187952" cy="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4">
                <a:pos x="f34" y="f34"/>
              </a:cxn>
              <a:cxn ang="f25">
                <a:pos x="f35" y="f36"/>
              </a:cxn>
            </a:cxnLst>
            <a:rect l="f31" t="f31" r="f32" b="f33"/>
            <a:pathLst>
              <a:path>
                <a:moveTo>
                  <a:pt x="f34" y="f34"/>
                </a:moveTo>
                <a:lnTo>
                  <a:pt x="f35" y="f36"/>
                </a:lnTo>
              </a:path>
            </a:pathLst>
          </a:custGeom>
          <a:noFill/>
          <a:ln w="8887" cap="flat">
            <a:solidFill>
              <a:srgbClr val="E2E6EA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C02F2CF8-3453-B796-5D89-0A0405F5BB01}"/>
              </a:ext>
            </a:extLst>
          </p:cNvPr>
          <p:cNvSpPr/>
          <p:nvPr/>
        </p:nvSpPr>
        <p:spPr>
          <a:xfrm>
            <a:off x="530352" y="4480560"/>
            <a:ext cx="1024128" cy="356616"/>
          </a:xfrm>
          <a:custGeom>
            <a:avLst>
              <a:gd name="f0" fmla="val 2215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17212B"/>
          </a:solidFill>
          <a:ln w="12701" cap="flat">
            <a:solidFill>
              <a:srgbClr val="17212B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4980FB3B-F24A-6C55-BBF8-1235EBF37E41}"/>
              </a:ext>
            </a:extLst>
          </p:cNvPr>
          <p:cNvSpPr/>
          <p:nvPr/>
        </p:nvSpPr>
        <p:spPr>
          <a:xfrm>
            <a:off x="576072" y="4544568"/>
            <a:ext cx="932688" cy="1645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30" b="1" i="0" u="none" strike="noStrike" kern="1200" cap="none" spc="0" baseline="0">
                <a:solidFill>
                  <a:srgbClr val="FFFFFF"/>
                </a:solidFill>
                <a:uFillTx/>
                <a:latin typeface="Aptos"/>
              </a:rPr>
              <a:t>UAT</a:t>
            </a:r>
            <a:endParaRPr lang="en-US" sz="93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96E41D2F-0FC6-E47C-EA57-1C53B7AA44D3}"/>
              </a:ext>
            </a:extLst>
          </p:cNvPr>
          <p:cNvSpPr/>
          <p:nvPr/>
        </p:nvSpPr>
        <p:spPr>
          <a:xfrm>
            <a:off x="1719072" y="4489704"/>
            <a:ext cx="1874519" cy="20116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1" i="0" u="none" strike="noStrike" kern="1200" cap="none" spc="0" baseline="0">
                <a:solidFill>
                  <a:srgbClr val="17212B"/>
                </a:solidFill>
                <a:uFillTx/>
                <a:latin typeface="Aptos"/>
              </a:rPr>
              <a:t>User Acceptance Testing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B1BB08E1-EA63-B670-100E-CCA3BF4EC46B}"/>
              </a:ext>
            </a:extLst>
          </p:cNvPr>
          <p:cNvSpPr/>
          <p:nvPr/>
        </p:nvSpPr>
        <p:spPr>
          <a:xfrm>
            <a:off x="1719072" y="4700016"/>
            <a:ext cx="4187952" cy="21945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80" b="0" i="0" u="none" strike="noStrike" kern="1200" cap="none" spc="0" baseline="0">
                <a:solidFill>
                  <a:srgbClr val="5D6773"/>
                </a:solidFill>
                <a:uFillTx/>
                <a:latin typeface="Aptos"/>
              </a:rPr>
              <a:t>Tests de validation réalisés par les utilisateurs.</a:t>
            </a:r>
            <a:endParaRPr lang="en-US" sz="88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5CE5F2AA-5FA0-55F1-BAC1-0F6E3786B112}"/>
              </a:ext>
            </a:extLst>
          </p:cNvPr>
          <p:cNvSpPr/>
          <p:nvPr/>
        </p:nvSpPr>
        <p:spPr>
          <a:xfrm>
            <a:off x="1719072" y="4965192"/>
            <a:ext cx="4187952" cy="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4">
                <a:pos x="f34" y="f34"/>
              </a:cxn>
              <a:cxn ang="f25">
                <a:pos x="f35" y="f36"/>
              </a:cxn>
            </a:cxnLst>
            <a:rect l="f31" t="f31" r="f32" b="f33"/>
            <a:pathLst>
              <a:path>
                <a:moveTo>
                  <a:pt x="f34" y="f34"/>
                </a:moveTo>
                <a:lnTo>
                  <a:pt x="f35" y="f36"/>
                </a:lnTo>
              </a:path>
            </a:pathLst>
          </a:custGeom>
          <a:noFill/>
          <a:ln w="8887" cap="flat">
            <a:solidFill>
              <a:srgbClr val="E2E6EA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3CB34095-5960-B232-3534-B53DF487F19E}"/>
              </a:ext>
            </a:extLst>
          </p:cNvPr>
          <p:cNvSpPr/>
          <p:nvPr/>
        </p:nvSpPr>
        <p:spPr>
          <a:xfrm>
            <a:off x="530352" y="5001768"/>
            <a:ext cx="1024128" cy="356616"/>
          </a:xfrm>
          <a:custGeom>
            <a:avLst>
              <a:gd name="f0" fmla="val 2215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84BD00"/>
          </a:solidFill>
          <a:ln w="12701" cap="flat">
            <a:solidFill>
              <a:srgbClr val="84BD00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8B3AE24E-4727-B8D2-F1CA-3E2A64B1E1BC}"/>
              </a:ext>
            </a:extLst>
          </p:cNvPr>
          <p:cNvSpPr/>
          <p:nvPr/>
        </p:nvSpPr>
        <p:spPr>
          <a:xfrm>
            <a:off x="576072" y="5065776"/>
            <a:ext cx="932688" cy="1645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30" b="1" i="0" u="none" strike="noStrike" kern="1200" cap="none" spc="0" baseline="0">
                <a:solidFill>
                  <a:srgbClr val="FFFFFF"/>
                </a:solidFill>
                <a:uFillTx/>
                <a:latin typeface="Aptos"/>
              </a:rPr>
              <a:t>ROI</a:t>
            </a:r>
            <a:endParaRPr lang="en-US" sz="93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AB947042-C72F-175C-EA24-DCF332C15B2B}"/>
              </a:ext>
            </a:extLst>
          </p:cNvPr>
          <p:cNvSpPr/>
          <p:nvPr/>
        </p:nvSpPr>
        <p:spPr>
          <a:xfrm>
            <a:off x="1719072" y="5010912"/>
            <a:ext cx="1874519" cy="20116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1" i="0" u="none" strike="noStrike" kern="1200" cap="none" spc="0" baseline="0">
                <a:solidFill>
                  <a:srgbClr val="17212B"/>
                </a:solidFill>
                <a:uFillTx/>
                <a:latin typeface="Aptos"/>
              </a:rPr>
              <a:t>Return on Investment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75A22D74-804D-7553-64B7-5EF95A95C017}"/>
              </a:ext>
            </a:extLst>
          </p:cNvPr>
          <p:cNvSpPr/>
          <p:nvPr/>
        </p:nvSpPr>
        <p:spPr>
          <a:xfrm>
            <a:off x="1719072" y="5221224"/>
            <a:ext cx="4187952" cy="21945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80" b="0" i="0" u="none" strike="noStrike" kern="1200" cap="none" spc="0" baseline="0">
                <a:solidFill>
                  <a:srgbClr val="5D6773"/>
                </a:solidFill>
                <a:uFillTx/>
                <a:latin typeface="Aptos"/>
              </a:rPr>
              <a:t>Retour sur investissement attendu du projet.</a:t>
            </a:r>
            <a:endParaRPr lang="en-US" sz="88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269146FD-5151-5A07-124F-81AECC6492A7}"/>
              </a:ext>
            </a:extLst>
          </p:cNvPr>
          <p:cNvSpPr/>
          <p:nvPr/>
        </p:nvSpPr>
        <p:spPr>
          <a:xfrm>
            <a:off x="1719072" y="5486400"/>
            <a:ext cx="4187952" cy="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4">
                <a:pos x="f34" y="f34"/>
              </a:cxn>
              <a:cxn ang="f25">
                <a:pos x="f35" y="f36"/>
              </a:cxn>
            </a:cxnLst>
            <a:rect l="f31" t="f31" r="f32" b="f33"/>
            <a:pathLst>
              <a:path>
                <a:moveTo>
                  <a:pt x="f34" y="f34"/>
                </a:moveTo>
                <a:lnTo>
                  <a:pt x="f35" y="f36"/>
                </a:lnTo>
              </a:path>
            </a:pathLst>
          </a:custGeom>
          <a:noFill/>
          <a:ln w="8887" cap="flat">
            <a:solidFill>
              <a:srgbClr val="E2E6EA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7B157472-1933-D8E7-1272-34F1D7F14ADD}"/>
              </a:ext>
            </a:extLst>
          </p:cNvPr>
          <p:cNvSpPr/>
          <p:nvPr/>
        </p:nvSpPr>
        <p:spPr>
          <a:xfrm>
            <a:off x="530352" y="5522976"/>
            <a:ext cx="1024128" cy="356616"/>
          </a:xfrm>
          <a:custGeom>
            <a:avLst>
              <a:gd name="f0" fmla="val 2215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17212B"/>
          </a:solidFill>
          <a:ln w="12701" cap="flat">
            <a:solidFill>
              <a:srgbClr val="17212B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863DD7B6-A52D-F4B9-CCD2-EAEDE7D2FB23}"/>
              </a:ext>
            </a:extLst>
          </p:cNvPr>
          <p:cNvSpPr/>
          <p:nvPr/>
        </p:nvSpPr>
        <p:spPr>
          <a:xfrm>
            <a:off x="576072" y="5586983"/>
            <a:ext cx="932688" cy="1645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30" b="1" i="0" u="none" strike="noStrike" kern="1200" cap="none" spc="0" baseline="0">
                <a:solidFill>
                  <a:srgbClr val="FFFFFF"/>
                </a:solidFill>
                <a:uFillTx/>
                <a:latin typeface="Aptos"/>
              </a:rPr>
              <a:t>KPI</a:t>
            </a:r>
            <a:endParaRPr lang="en-US" sz="93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C726A9C7-39FE-B2CE-75FF-D376F93F8119}"/>
              </a:ext>
            </a:extLst>
          </p:cNvPr>
          <p:cNvSpPr/>
          <p:nvPr/>
        </p:nvSpPr>
        <p:spPr>
          <a:xfrm>
            <a:off x="1719072" y="5532120"/>
            <a:ext cx="1874519" cy="20116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1" i="0" u="none" strike="noStrike" kern="1200" cap="none" spc="0" baseline="0">
                <a:solidFill>
                  <a:srgbClr val="17212B"/>
                </a:solidFill>
                <a:uFillTx/>
                <a:latin typeface="Aptos"/>
              </a:rPr>
              <a:t>Key Performance Indicator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6E8DF277-50DD-752F-9772-944515F857A5}"/>
              </a:ext>
            </a:extLst>
          </p:cNvPr>
          <p:cNvSpPr/>
          <p:nvPr/>
        </p:nvSpPr>
        <p:spPr>
          <a:xfrm>
            <a:off x="1719072" y="5742432"/>
            <a:ext cx="4187952" cy="21945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80" b="0" i="0" u="none" strike="noStrike" kern="1200" cap="none" spc="0" baseline="0">
                <a:solidFill>
                  <a:srgbClr val="5D6773"/>
                </a:solidFill>
                <a:uFillTx/>
                <a:latin typeface="Aptos"/>
              </a:rPr>
              <a:t>Indicateur clé utilisé pour mesurer la performance.</a:t>
            </a:r>
            <a:endParaRPr lang="en-US" sz="88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44" name="Shape 42">
            <a:extLst>
              <a:ext uri="{FF2B5EF4-FFF2-40B4-BE49-F238E27FC236}">
                <a16:creationId xmlns:a16="http://schemas.microsoft.com/office/drawing/2014/main" id="{CBC663E4-9B45-34C4-6F60-D6D6BFE0DAED}"/>
              </a:ext>
            </a:extLst>
          </p:cNvPr>
          <p:cNvSpPr/>
          <p:nvPr/>
        </p:nvSpPr>
        <p:spPr>
          <a:xfrm>
            <a:off x="6153912" y="1874519"/>
            <a:ext cx="1024128" cy="356616"/>
          </a:xfrm>
          <a:custGeom>
            <a:avLst>
              <a:gd name="f0" fmla="val 2215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84BD00"/>
          </a:solidFill>
          <a:ln w="12701" cap="flat">
            <a:solidFill>
              <a:srgbClr val="84BD00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6FDA78A1-0BD8-3D1C-BFA1-A8B3349B8679}"/>
              </a:ext>
            </a:extLst>
          </p:cNvPr>
          <p:cNvSpPr/>
          <p:nvPr/>
        </p:nvSpPr>
        <p:spPr>
          <a:xfrm>
            <a:off x="6199632" y="1938528"/>
            <a:ext cx="932688" cy="1645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30" b="1" i="0" u="none" strike="noStrike" kern="1200" cap="none" spc="0" baseline="0">
                <a:solidFill>
                  <a:srgbClr val="FFFFFF"/>
                </a:solidFill>
                <a:uFillTx/>
                <a:latin typeface="Aptos"/>
              </a:rPr>
              <a:t>COMEX</a:t>
            </a:r>
            <a:endParaRPr lang="en-US" sz="93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418B0FC4-100D-5B19-678C-DE4CAD331E50}"/>
              </a:ext>
            </a:extLst>
          </p:cNvPr>
          <p:cNvSpPr/>
          <p:nvPr/>
        </p:nvSpPr>
        <p:spPr>
          <a:xfrm>
            <a:off x="7342631" y="1883664"/>
            <a:ext cx="1874519" cy="20116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1" i="0" u="none" strike="noStrike" kern="1200" cap="none" spc="0" baseline="0">
                <a:solidFill>
                  <a:srgbClr val="17212B"/>
                </a:solidFill>
                <a:uFillTx/>
                <a:latin typeface="Aptos"/>
              </a:rPr>
              <a:t>Comité Exécutif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B9F4A508-C159-EEF4-4CDF-097EC5AE0AA5}"/>
              </a:ext>
            </a:extLst>
          </p:cNvPr>
          <p:cNvSpPr/>
          <p:nvPr/>
        </p:nvSpPr>
        <p:spPr>
          <a:xfrm>
            <a:off x="7342631" y="2093976"/>
            <a:ext cx="4187952" cy="21945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80" b="0" i="0" u="none" strike="noStrike" kern="1200" cap="none" spc="0" baseline="0">
                <a:solidFill>
                  <a:srgbClr val="5D6773"/>
                </a:solidFill>
                <a:uFillTx/>
                <a:latin typeface="Aptos"/>
              </a:rPr>
              <a:t>Instance de direction destinataire du dashboard exécutif.</a:t>
            </a:r>
            <a:endParaRPr lang="en-US" sz="88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48" name="Shape 46">
            <a:extLst>
              <a:ext uri="{FF2B5EF4-FFF2-40B4-BE49-F238E27FC236}">
                <a16:creationId xmlns:a16="http://schemas.microsoft.com/office/drawing/2014/main" id="{B0E5370E-B931-EDB9-CD2C-9C81CC635B00}"/>
              </a:ext>
            </a:extLst>
          </p:cNvPr>
          <p:cNvSpPr/>
          <p:nvPr/>
        </p:nvSpPr>
        <p:spPr>
          <a:xfrm>
            <a:off x="7342631" y="2359152"/>
            <a:ext cx="4187952" cy="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4">
                <a:pos x="f34" y="f34"/>
              </a:cxn>
              <a:cxn ang="f25">
                <a:pos x="f35" y="f36"/>
              </a:cxn>
            </a:cxnLst>
            <a:rect l="f31" t="f31" r="f32" b="f33"/>
            <a:pathLst>
              <a:path>
                <a:moveTo>
                  <a:pt x="f34" y="f34"/>
                </a:moveTo>
                <a:lnTo>
                  <a:pt x="f35" y="f36"/>
                </a:lnTo>
              </a:path>
            </a:pathLst>
          </a:custGeom>
          <a:noFill/>
          <a:ln w="8887" cap="flat">
            <a:solidFill>
              <a:srgbClr val="E2E6EA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9" name="Shape 47">
            <a:extLst>
              <a:ext uri="{FF2B5EF4-FFF2-40B4-BE49-F238E27FC236}">
                <a16:creationId xmlns:a16="http://schemas.microsoft.com/office/drawing/2014/main" id="{16D599CC-F366-504C-69C3-E100E510CC1A}"/>
              </a:ext>
            </a:extLst>
          </p:cNvPr>
          <p:cNvSpPr/>
          <p:nvPr/>
        </p:nvSpPr>
        <p:spPr>
          <a:xfrm>
            <a:off x="6153912" y="2395728"/>
            <a:ext cx="1024128" cy="356616"/>
          </a:xfrm>
          <a:custGeom>
            <a:avLst>
              <a:gd name="f0" fmla="val 2215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17212B"/>
          </a:solidFill>
          <a:ln w="12701" cap="flat">
            <a:solidFill>
              <a:srgbClr val="17212B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B28419F3-7A4D-BB63-2FD4-6C4A06500CCF}"/>
              </a:ext>
            </a:extLst>
          </p:cNvPr>
          <p:cNvSpPr/>
          <p:nvPr/>
        </p:nvSpPr>
        <p:spPr>
          <a:xfrm>
            <a:off x="6199632" y="2459736"/>
            <a:ext cx="932688" cy="1645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30" b="1" i="0" u="none" strike="noStrike" kern="1200" cap="none" spc="0" baseline="0">
                <a:solidFill>
                  <a:srgbClr val="FFFFFF"/>
                </a:solidFill>
                <a:uFillTx/>
                <a:latin typeface="Aptos"/>
              </a:rPr>
              <a:t>DIG</a:t>
            </a:r>
            <a:endParaRPr lang="en-US" sz="93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269029D6-7191-E1A5-9C27-AD4664BF19FF}"/>
              </a:ext>
            </a:extLst>
          </p:cNvPr>
          <p:cNvSpPr/>
          <p:nvPr/>
        </p:nvSpPr>
        <p:spPr>
          <a:xfrm>
            <a:off x="7342631" y="2404872"/>
            <a:ext cx="1874519" cy="20116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1" i="0" u="none" strike="noStrike" kern="1200" cap="none" spc="0" baseline="0">
                <a:solidFill>
                  <a:srgbClr val="17212B"/>
                </a:solidFill>
                <a:uFillTx/>
                <a:latin typeface="Aptos"/>
              </a:rPr>
              <a:t>Digitalisation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52" name="Text 50">
            <a:extLst>
              <a:ext uri="{FF2B5EF4-FFF2-40B4-BE49-F238E27FC236}">
                <a16:creationId xmlns:a16="http://schemas.microsoft.com/office/drawing/2014/main" id="{7A334094-4B03-213F-7686-27E07EC7DDEA}"/>
              </a:ext>
            </a:extLst>
          </p:cNvPr>
          <p:cNvSpPr/>
          <p:nvPr/>
        </p:nvSpPr>
        <p:spPr>
          <a:xfrm>
            <a:off x="7342631" y="2615184"/>
            <a:ext cx="4187952" cy="21945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80" b="0" i="0" u="none" strike="noStrike" kern="1200" cap="none" spc="0" baseline="0">
                <a:solidFill>
                  <a:srgbClr val="5D6773"/>
                </a:solidFill>
                <a:uFillTx/>
                <a:latin typeface="Aptos"/>
              </a:rPr>
              <a:t>Périmètre du département IT &amp; Digitalisation.</a:t>
            </a:r>
            <a:endParaRPr lang="en-US" sz="88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53" name="Shape 51">
            <a:extLst>
              <a:ext uri="{FF2B5EF4-FFF2-40B4-BE49-F238E27FC236}">
                <a16:creationId xmlns:a16="http://schemas.microsoft.com/office/drawing/2014/main" id="{C91AE8F8-8342-36DD-670D-F2C409D71EBE}"/>
              </a:ext>
            </a:extLst>
          </p:cNvPr>
          <p:cNvSpPr/>
          <p:nvPr/>
        </p:nvSpPr>
        <p:spPr>
          <a:xfrm>
            <a:off x="7342631" y="2880360"/>
            <a:ext cx="4187952" cy="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4">
                <a:pos x="f34" y="f34"/>
              </a:cxn>
              <a:cxn ang="f25">
                <a:pos x="f35" y="f36"/>
              </a:cxn>
            </a:cxnLst>
            <a:rect l="f31" t="f31" r="f32" b="f33"/>
            <a:pathLst>
              <a:path>
                <a:moveTo>
                  <a:pt x="f34" y="f34"/>
                </a:moveTo>
                <a:lnTo>
                  <a:pt x="f35" y="f36"/>
                </a:lnTo>
              </a:path>
            </a:pathLst>
          </a:custGeom>
          <a:noFill/>
          <a:ln w="8887" cap="flat">
            <a:solidFill>
              <a:srgbClr val="E2E6EA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4" name="Shape 52">
            <a:extLst>
              <a:ext uri="{FF2B5EF4-FFF2-40B4-BE49-F238E27FC236}">
                <a16:creationId xmlns:a16="http://schemas.microsoft.com/office/drawing/2014/main" id="{344C0066-A3ED-219B-C2B0-C138F4BF79F8}"/>
              </a:ext>
            </a:extLst>
          </p:cNvPr>
          <p:cNvSpPr/>
          <p:nvPr/>
        </p:nvSpPr>
        <p:spPr>
          <a:xfrm>
            <a:off x="6153912" y="2916936"/>
            <a:ext cx="1024128" cy="356616"/>
          </a:xfrm>
          <a:custGeom>
            <a:avLst>
              <a:gd name="f0" fmla="val 2215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84BD00"/>
          </a:solidFill>
          <a:ln w="12701" cap="flat">
            <a:solidFill>
              <a:srgbClr val="84BD00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5" name="Text 53">
            <a:extLst>
              <a:ext uri="{FF2B5EF4-FFF2-40B4-BE49-F238E27FC236}">
                <a16:creationId xmlns:a16="http://schemas.microsoft.com/office/drawing/2014/main" id="{2B641214-ACED-8BAD-82C8-90C88256FCAD}"/>
              </a:ext>
            </a:extLst>
          </p:cNvPr>
          <p:cNvSpPr/>
          <p:nvPr/>
        </p:nvSpPr>
        <p:spPr>
          <a:xfrm>
            <a:off x="6199632" y="2980944"/>
            <a:ext cx="932688" cy="1645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30" b="1" i="0" u="none" strike="noStrike" kern="1200" cap="none" spc="0" baseline="0">
                <a:solidFill>
                  <a:srgbClr val="FFFFFF"/>
                </a:solidFill>
                <a:uFillTx/>
                <a:latin typeface="Aptos"/>
              </a:rPr>
              <a:t>IT</a:t>
            </a:r>
            <a:endParaRPr lang="en-US" sz="93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56" name="Text 54">
            <a:extLst>
              <a:ext uri="{FF2B5EF4-FFF2-40B4-BE49-F238E27FC236}">
                <a16:creationId xmlns:a16="http://schemas.microsoft.com/office/drawing/2014/main" id="{B520FA85-4F9A-420B-CD6D-E8C3A550FF09}"/>
              </a:ext>
            </a:extLst>
          </p:cNvPr>
          <p:cNvSpPr/>
          <p:nvPr/>
        </p:nvSpPr>
        <p:spPr>
          <a:xfrm>
            <a:off x="7342631" y="2926080"/>
            <a:ext cx="1874519" cy="20116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1" i="0" u="none" strike="noStrike" kern="1200" cap="none" spc="0" baseline="0">
                <a:solidFill>
                  <a:srgbClr val="17212B"/>
                </a:solidFill>
                <a:uFillTx/>
                <a:latin typeface="Aptos"/>
              </a:rPr>
              <a:t>Information Technology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57" name="Text 55">
            <a:extLst>
              <a:ext uri="{FF2B5EF4-FFF2-40B4-BE49-F238E27FC236}">
                <a16:creationId xmlns:a16="http://schemas.microsoft.com/office/drawing/2014/main" id="{5A5B1441-78B8-A669-6225-235704DA9E7B}"/>
              </a:ext>
            </a:extLst>
          </p:cNvPr>
          <p:cNvSpPr/>
          <p:nvPr/>
        </p:nvSpPr>
        <p:spPr>
          <a:xfrm>
            <a:off x="7342631" y="3136391"/>
            <a:ext cx="4187952" cy="21945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80" b="0" i="0" u="none" strike="noStrike" kern="1200" cap="none" spc="0" baseline="0">
                <a:solidFill>
                  <a:srgbClr val="5D6773"/>
                </a:solidFill>
                <a:uFillTx/>
                <a:latin typeface="Aptos"/>
              </a:rPr>
              <a:t>Technologies de l’information.</a:t>
            </a:r>
            <a:endParaRPr lang="en-US" sz="88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58" name="Shape 56">
            <a:extLst>
              <a:ext uri="{FF2B5EF4-FFF2-40B4-BE49-F238E27FC236}">
                <a16:creationId xmlns:a16="http://schemas.microsoft.com/office/drawing/2014/main" id="{5B354FD5-47BD-D106-71F7-BC00FC5A9E6D}"/>
              </a:ext>
            </a:extLst>
          </p:cNvPr>
          <p:cNvSpPr/>
          <p:nvPr/>
        </p:nvSpPr>
        <p:spPr>
          <a:xfrm>
            <a:off x="7342631" y="3401568"/>
            <a:ext cx="4187952" cy="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4">
                <a:pos x="f34" y="f34"/>
              </a:cxn>
              <a:cxn ang="f25">
                <a:pos x="f35" y="f36"/>
              </a:cxn>
            </a:cxnLst>
            <a:rect l="f31" t="f31" r="f32" b="f33"/>
            <a:pathLst>
              <a:path>
                <a:moveTo>
                  <a:pt x="f34" y="f34"/>
                </a:moveTo>
                <a:lnTo>
                  <a:pt x="f35" y="f36"/>
                </a:lnTo>
              </a:path>
            </a:pathLst>
          </a:custGeom>
          <a:noFill/>
          <a:ln w="8887" cap="flat">
            <a:solidFill>
              <a:srgbClr val="E2E6EA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9" name="Shape 57">
            <a:extLst>
              <a:ext uri="{FF2B5EF4-FFF2-40B4-BE49-F238E27FC236}">
                <a16:creationId xmlns:a16="http://schemas.microsoft.com/office/drawing/2014/main" id="{D0E0D135-A85F-C2F6-57D3-E5D29A52822E}"/>
              </a:ext>
            </a:extLst>
          </p:cNvPr>
          <p:cNvSpPr/>
          <p:nvPr/>
        </p:nvSpPr>
        <p:spPr>
          <a:xfrm>
            <a:off x="6153912" y="3438144"/>
            <a:ext cx="1024128" cy="356616"/>
          </a:xfrm>
          <a:custGeom>
            <a:avLst>
              <a:gd name="f0" fmla="val 2215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17212B"/>
          </a:solidFill>
          <a:ln w="12701" cap="flat">
            <a:solidFill>
              <a:srgbClr val="17212B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0" name="Text 58">
            <a:extLst>
              <a:ext uri="{FF2B5EF4-FFF2-40B4-BE49-F238E27FC236}">
                <a16:creationId xmlns:a16="http://schemas.microsoft.com/office/drawing/2014/main" id="{AB72E6CD-04C5-DB6E-BD9D-0FC9F687BD3D}"/>
              </a:ext>
            </a:extLst>
          </p:cNvPr>
          <p:cNvSpPr/>
          <p:nvPr/>
        </p:nvSpPr>
        <p:spPr>
          <a:xfrm>
            <a:off x="6199632" y="3502151"/>
            <a:ext cx="932688" cy="1645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30" b="1" i="0" u="none" strike="noStrike" kern="1200" cap="none" spc="0" baseline="0">
                <a:solidFill>
                  <a:srgbClr val="FFFFFF"/>
                </a:solidFill>
                <a:uFillTx/>
                <a:latin typeface="Aptos"/>
              </a:rPr>
              <a:t>DEV</a:t>
            </a:r>
            <a:endParaRPr lang="en-US" sz="93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61" name="Text 59">
            <a:extLst>
              <a:ext uri="{FF2B5EF4-FFF2-40B4-BE49-F238E27FC236}">
                <a16:creationId xmlns:a16="http://schemas.microsoft.com/office/drawing/2014/main" id="{2265054E-6FCF-9BB1-4A18-91680DF25E1D}"/>
              </a:ext>
            </a:extLst>
          </p:cNvPr>
          <p:cNvSpPr/>
          <p:nvPr/>
        </p:nvSpPr>
        <p:spPr>
          <a:xfrm>
            <a:off x="7342631" y="3447288"/>
            <a:ext cx="1874519" cy="20116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1" i="0" u="none" strike="noStrike" kern="1200" cap="none" spc="0" baseline="0">
                <a:solidFill>
                  <a:srgbClr val="17212B"/>
                </a:solidFill>
                <a:uFillTx/>
                <a:latin typeface="Aptos"/>
              </a:rPr>
              <a:t>Development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62" name="Text 60">
            <a:extLst>
              <a:ext uri="{FF2B5EF4-FFF2-40B4-BE49-F238E27FC236}">
                <a16:creationId xmlns:a16="http://schemas.microsoft.com/office/drawing/2014/main" id="{82E64F80-7175-0BB1-E4CF-97E200716D20}"/>
              </a:ext>
            </a:extLst>
          </p:cNvPr>
          <p:cNvSpPr/>
          <p:nvPr/>
        </p:nvSpPr>
        <p:spPr>
          <a:xfrm>
            <a:off x="7342631" y="3657600"/>
            <a:ext cx="4187952" cy="21945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80" b="0" i="0" u="none" strike="noStrike" kern="1200" cap="none" spc="0" baseline="0">
                <a:solidFill>
                  <a:srgbClr val="5D6773"/>
                </a:solidFill>
                <a:uFillTx/>
                <a:latin typeface="Aptos"/>
              </a:rPr>
              <a:t>Phase de développement de la solution.</a:t>
            </a:r>
            <a:endParaRPr lang="en-US" sz="88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63" name="Shape 61">
            <a:extLst>
              <a:ext uri="{FF2B5EF4-FFF2-40B4-BE49-F238E27FC236}">
                <a16:creationId xmlns:a16="http://schemas.microsoft.com/office/drawing/2014/main" id="{0D0D3070-5A39-C424-1316-4CA222D0D016}"/>
              </a:ext>
            </a:extLst>
          </p:cNvPr>
          <p:cNvSpPr/>
          <p:nvPr/>
        </p:nvSpPr>
        <p:spPr>
          <a:xfrm>
            <a:off x="7342631" y="3922776"/>
            <a:ext cx="4187952" cy="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4">
                <a:pos x="f34" y="f34"/>
              </a:cxn>
              <a:cxn ang="f25">
                <a:pos x="f35" y="f36"/>
              </a:cxn>
            </a:cxnLst>
            <a:rect l="f31" t="f31" r="f32" b="f33"/>
            <a:pathLst>
              <a:path>
                <a:moveTo>
                  <a:pt x="f34" y="f34"/>
                </a:moveTo>
                <a:lnTo>
                  <a:pt x="f35" y="f36"/>
                </a:lnTo>
              </a:path>
            </a:pathLst>
          </a:custGeom>
          <a:noFill/>
          <a:ln w="8887" cap="flat">
            <a:solidFill>
              <a:srgbClr val="E2E6EA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4" name="Shape 62">
            <a:extLst>
              <a:ext uri="{FF2B5EF4-FFF2-40B4-BE49-F238E27FC236}">
                <a16:creationId xmlns:a16="http://schemas.microsoft.com/office/drawing/2014/main" id="{1961E96B-F0DF-4E9C-9031-4ABAA2CE8AD5}"/>
              </a:ext>
            </a:extLst>
          </p:cNvPr>
          <p:cNvSpPr/>
          <p:nvPr/>
        </p:nvSpPr>
        <p:spPr>
          <a:xfrm>
            <a:off x="6153912" y="3959352"/>
            <a:ext cx="1024128" cy="356616"/>
          </a:xfrm>
          <a:custGeom>
            <a:avLst>
              <a:gd name="f0" fmla="val 2215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84BD00"/>
          </a:solidFill>
          <a:ln w="12701" cap="flat">
            <a:solidFill>
              <a:srgbClr val="84BD00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5" name="Text 63">
            <a:extLst>
              <a:ext uri="{FF2B5EF4-FFF2-40B4-BE49-F238E27FC236}">
                <a16:creationId xmlns:a16="http://schemas.microsoft.com/office/drawing/2014/main" id="{104BED49-D5BD-6825-2BA2-9C1C3A911F15}"/>
              </a:ext>
            </a:extLst>
          </p:cNvPr>
          <p:cNvSpPr/>
          <p:nvPr/>
        </p:nvSpPr>
        <p:spPr>
          <a:xfrm>
            <a:off x="6199632" y="4023360"/>
            <a:ext cx="932688" cy="1645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30" b="1" i="0" u="none" strike="noStrike" kern="1200" cap="none" spc="0" baseline="0">
                <a:solidFill>
                  <a:srgbClr val="FFFFFF"/>
                </a:solidFill>
                <a:uFillTx/>
                <a:latin typeface="Aptos"/>
              </a:rPr>
              <a:t>SQL</a:t>
            </a:r>
            <a:endParaRPr lang="en-US" sz="93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66" name="Text 64">
            <a:extLst>
              <a:ext uri="{FF2B5EF4-FFF2-40B4-BE49-F238E27FC236}">
                <a16:creationId xmlns:a16="http://schemas.microsoft.com/office/drawing/2014/main" id="{019DC7F6-3D21-E4D2-B1ED-1DFB022416FA}"/>
              </a:ext>
            </a:extLst>
          </p:cNvPr>
          <p:cNvSpPr/>
          <p:nvPr/>
        </p:nvSpPr>
        <p:spPr>
          <a:xfrm>
            <a:off x="7342631" y="3968496"/>
            <a:ext cx="1874519" cy="20116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1" i="0" u="none" strike="noStrike" kern="1200" cap="none" spc="0" baseline="0">
                <a:solidFill>
                  <a:srgbClr val="17212B"/>
                </a:solidFill>
                <a:uFillTx/>
                <a:latin typeface="Aptos"/>
              </a:rPr>
              <a:t>Structured Query Language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67" name="Text 65">
            <a:extLst>
              <a:ext uri="{FF2B5EF4-FFF2-40B4-BE49-F238E27FC236}">
                <a16:creationId xmlns:a16="http://schemas.microsoft.com/office/drawing/2014/main" id="{61390632-2658-A100-A5BD-38F8AFE0F5D0}"/>
              </a:ext>
            </a:extLst>
          </p:cNvPr>
          <p:cNvSpPr/>
          <p:nvPr/>
        </p:nvSpPr>
        <p:spPr>
          <a:xfrm>
            <a:off x="7342631" y="4178808"/>
            <a:ext cx="4187952" cy="21945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80" b="0" i="0" u="none" strike="noStrike" kern="1200" cap="none" spc="0" baseline="0">
                <a:solidFill>
                  <a:srgbClr val="5D6773"/>
                </a:solidFill>
                <a:uFillTx/>
                <a:latin typeface="Aptos"/>
              </a:rPr>
              <a:t>Langage utilisé avec la base de données SQL Server.</a:t>
            </a:r>
            <a:endParaRPr lang="en-US" sz="88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68" name="Shape 66">
            <a:extLst>
              <a:ext uri="{FF2B5EF4-FFF2-40B4-BE49-F238E27FC236}">
                <a16:creationId xmlns:a16="http://schemas.microsoft.com/office/drawing/2014/main" id="{F1B9AFD1-6A6F-61EB-A10A-D45127AC0BB0}"/>
              </a:ext>
            </a:extLst>
          </p:cNvPr>
          <p:cNvSpPr/>
          <p:nvPr/>
        </p:nvSpPr>
        <p:spPr>
          <a:xfrm>
            <a:off x="7342631" y="4443983"/>
            <a:ext cx="4187952" cy="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4">
                <a:pos x="f34" y="f34"/>
              </a:cxn>
              <a:cxn ang="f25">
                <a:pos x="f35" y="f36"/>
              </a:cxn>
            </a:cxnLst>
            <a:rect l="f31" t="f31" r="f32" b="f33"/>
            <a:pathLst>
              <a:path>
                <a:moveTo>
                  <a:pt x="f34" y="f34"/>
                </a:moveTo>
                <a:lnTo>
                  <a:pt x="f35" y="f36"/>
                </a:lnTo>
              </a:path>
            </a:pathLst>
          </a:custGeom>
          <a:noFill/>
          <a:ln w="8887" cap="flat">
            <a:solidFill>
              <a:srgbClr val="E2E6EA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9" name="Shape 67">
            <a:extLst>
              <a:ext uri="{FF2B5EF4-FFF2-40B4-BE49-F238E27FC236}">
                <a16:creationId xmlns:a16="http://schemas.microsoft.com/office/drawing/2014/main" id="{47624093-B6DF-04EE-087E-83F896A63121}"/>
              </a:ext>
            </a:extLst>
          </p:cNvPr>
          <p:cNvSpPr/>
          <p:nvPr/>
        </p:nvSpPr>
        <p:spPr>
          <a:xfrm>
            <a:off x="6153912" y="4480560"/>
            <a:ext cx="1024128" cy="356616"/>
          </a:xfrm>
          <a:custGeom>
            <a:avLst>
              <a:gd name="f0" fmla="val 2215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17212B"/>
          </a:solidFill>
          <a:ln w="12701" cap="flat">
            <a:solidFill>
              <a:srgbClr val="17212B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70" name="Text 68">
            <a:extLst>
              <a:ext uri="{FF2B5EF4-FFF2-40B4-BE49-F238E27FC236}">
                <a16:creationId xmlns:a16="http://schemas.microsoft.com/office/drawing/2014/main" id="{1DCC8DF0-0926-73E1-42EC-060758C4E891}"/>
              </a:ext>
            </a:extLst>
          </p:cNvPr>
          <p:cNvSpPr/>
          <p:nvPr/>
        </p:nvSpPr>
        <p:spPr>
          <a:xfrm>
            <a:off x="6199632" y="4544568"/>
            <a:ext cx="932688" cy="1645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30" b="1" i="0" u="none" strike="noStrike" kern="1200" cap="none" spc="0" baseline="0">
                <a:solidFill>
                  <a:srgbClr val="FFFFFF"/>
                </a:solidFill>
                <a:uFillTx/>
                <a:latin typeface="Aptos"/>
              </a:rPr>
              <a:t>MVC</a:t>
            </a:r>
            <a:endParaRPr lang="en-US" sz="93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71" name="Text 69">
            <a:extLst>
              <a:ext uri="{FF2B5EF4-FFF2-40B4-BE49-F238E27FC236}">
                <a16:creationId xmlns:a16="http://schemas.microsoft.com/office/drawing/2014/main" id="{100447E6-7316-3C3A-2951-459D572475E6}"/>
              </a:ext>
            </a:extLst>
          </p:cNvPr>
          <p:cNvSpPr/>
          <p:nvPr/>
        </p:nvSpPr>
        <p:spPr>
          <a:xfrm>
            <a:off x="7342631" y="4489704"/>
            <a:ext cx="1874519" cy="20116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1" i="0" u="none" strike="noStrike" kern="1200" cap="none" spc="0" baseline="0">
                <a:solidFill>
                  <a:srgbClr val="17212B"/>
                </a:solidFill>
                <a:uFillTx/>
                <a:latin typeface="Aptos"/>
              </a:rPr>
              <a:t>Model-View-Controller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72" name="Text 70">
            <a:extLst>
              <a:ext uri="{FF2B5EF4-FFF2-40B4-BE49-F238E27FC236}">
                <a16:creationId xmlns:a16="http://schemas.microsoft.com/office/drawing/2014/main" id="{57156179-710C-1C74-BEB6-E2FE6879E750}"/>
              </a:ext>
            </a:extLst>
          </p:cNvPr>
          <p:cNvSpPr/>
          <p:nvPr/>
        </p:nvSpPr>
        <p:spPr>
          <a:xfrm>
            <a:off x="7342631" y="4700016"/>
            <a:ext cx="4187952" cy="21945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80" b="0" i="0" u="none" strike="noStrike" kern="1200" cap="none" spc="0" baseline="0">
                <a:solidFill>
                  <a:srgbClr val="5D6773"/>
                </a:solidFill>
                <a:uFillTx/>
                <a:latin typeface="Aptos"/>
              </a:rPr>
              <a:t>Architecture applicative séparant données, interface et logique.</a:t>
            </a:r>
            <a:endParaRPr lang="en-US" sz="88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73" name="Shape 71">
            <a:extLst>
              <a:ext uri="{FF2B5EF4-FFF2-40B4-BE49-F238E27FC236}">
                <a16:creationId xmlns:a16="http://schemas.microsoft.com/office/drawing/2014/main" id="{2882D625-FD5F-27DD-AE76-B2F5662F28DF}"/>
              </a:ext>
            </a:extLst>
          </p:cNvPr>
          <p:cNvSpPr/>
          <p:nvPr/>
        </p:nvSpPr>
        <p:spPr>
          <a:xfrm>
            <a:off x="7342631" y="4965192"/>
            <a:ext cx="4187952" cy="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4">
                <a:pos x="f34" y="f34"/>
              </a:cxn>
              <a:cxn ang="f25">
                <a:pos x="f35" y="f36"/>
              </a:cxn>
            </a:cxnLst>
            <a:rect l="f31" t="f31" r="f32" b="f33"/>
            <a:pathLst>
              <a:path>
                <a:moveTo>
                  <a:pt x="f34" y="f34"/>
                </a:moveTo>
                <a:lnTo>
                  <a:pt x="f35" y="f36"/>
                </a:lnTo>
              </a:path>
            </a:pathLst>
          </a:custGeom>
          <a:noFill/>
          <a:ln w="8887" cap="flat">
            <a:solidFill>
              <a:srgbClr val="E2E6EA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74" name="Shape 72">
            <a:extLst>
              <a:ext uri="{FF2B5EF4-FFF2-40B4-BE49-F238E27FC236}">
                <a16:creationId xmlns:a16="http://schemas.microsoft.com/office/drawing/2014/main" id="{68AC23ED-E089-7627-B184-E708DCC78B4B}"/>
              </a:ext>
            </a:extLst>
          </p:cNvPr>
          <p:cNvSpPr/>
          <p:nvPr/>
        </p:nvSpPr>
        <p:spPr>
          <a:xfrm>
            <a:off x="6153912" y="5001768"/>
            <a:ext cx="1024128" cy="356616"/>
          </a:xfrm>
          <a:custGeom>
            <a:avLst>
              <a:gd name="f0" fmla="val 2215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84BD00"/>
          </a:solidFill>
          <a:ln w="12701" cap="flat">
            <a:solidFill>
              <a:srgbClr val="84BD00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75" name="Text 73">
            <a:extLst>
              <a:ext uri="{FF2B5EF4-FFF2-40B4-BE49-F238E27FC236}">
                <a16:creationId xmlns:a16="http://schemas.microsoft.com/office/drawing/2014/main" id="{BA62B587-ED5A-A27A-32C9-EA458BC3731B}"/>
              </a:ext>
            </a:extLst>
          </p:cNvPr>
          <p:cNvSpPr/>
          <p:nvPr/>
        </p:nvSpPr>
        <p:spPr>
          <a:xfrm>
            <a:off x="6199632" y="5065776"/>
            <a:ext cx="932688" cy="1645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30" b="1" i="0" u="none" strike="noStrike" kern="1200" cap="none" spc="0" baseline="0">
                <a:solidFill>
                  <a:srgbClr val="FFFFFF"/>
                </a:solidFill>
                <a:uFillTx/>
                <a:latin typeface="Aptos"/>
              </a:rPr>
              <a:t>IIS</a:t>
            </a:r>
            <a:endParaRPr lang="en-US" sz="93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76" name="Text 74">
            <a:extLst>
              <a:ext uri="{FF2B5EF4-FFF2-40B4-BE49-F238E27FC236}">
                <a16:creationId xmlns:a16="http://schemas.microsoft.com/office/drawing/2014/main" id="{479635E3-DB24-42EF-216D-D0E3B426A55F}"/>
              </a:ext>
            </a:extLst>
          </p:cNvPr>
          <p:cNvSpPr/>
          <p:nvPr/>
        </p:nvSpPr>
        <p:spPr>
          <a:xfrm>
            <a:off x="7342631" y="5010912"/>
            <a:ext cx="1874519" cy="20116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1" i="0" u="none" strike="noStrike" kern="1200" cap="none" spc="0" baseline="0">
                <a:solidFill>
                  <a:srgbClr val="17212B"/>
                </a:solidFill>
                <a:uFillTx/>
                <a:latin typeface="Aptos"/>
              </a:rPr>
              <a:t>Internet Information Services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77" name="Text 75">
            <a:extLst>
              <a:ext uri="{FF2B5EF4-FFF2-40B4-BE49-F238E27FC236}">
                <a16:creationId xmlns:a16="http://schemas.microsoft.com/office/drawing/2014/main" id="{C99BB71A-D292-648A-9F45-93EC7BFD2B55}"/>
              </a:ext>
            </a:extLst>
          </p:cNvPr>
          <p:cNvSpPr/>
          <p:nvPr/>
        </p:nvSpPr>
        <p:spPr>
          <a:xfrm>
            <a:off x="7342631" y="5221224"/>
            <a:ext cx="4187952" cy="21945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80" b="0" i="0" u="none" strike="noStrike" kern="1200" cap="none" spc="0" baseline="0">
                <a:solidFill>
                  <a:srgbClr val="5D6773"/>
                </a:solidFill>
                <a:uFillTx/>
                <a:latin typeface="Aptos"/>
              </a:rPr>
              <a:t>Serveur Web Microsoft hébergeant l’application.</a:t>
            </a:r>
            <a:endParaRPr lang="en-US" sz="88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78" name="Shape 76">
            <a:extLst>
              <a:ext uri="{FF2B5EF4-FFF2-40B4-BE49-F238E27FC236}">
                <a16:creationId xmlns:a16="http://schemas.microsoft.com/office/drawing/2014/main" id="{8EA62F11-AADD-82A4-5FFF-F0F6FE4E1BD8}"/>
              </a:ext>
            </a:extLst>
          </p:cNvPr>
          <p:cNvSpPr/>
          <p:nvPr/>
        </p:nvSpPr>
        <p:spPr>
          <a:xfrm>
            <a:off x="7342631" y="5486400"/>
            <a:ext cx="4187952" cy="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4">
                <a:pos x="f34" y="f34"/>
              </a:cxn>
              <a:cxn ang="f25">
                <a:pos x="f35" y="f36"/>
              </a:cxn>
            </a:cxnLst>
            <a:rect l="f31" t="f31" r="f32" b="f33"/>
            <a:pathLst>
              <a:path>
                <a:moveTo>
                  <a:pt x="f34" y="f34"/>
                </a:moveTo>
                <a:lnTo>
                  <a:pt x="f35" y="f36"/>
                </a:lnTo>
              </a:path>
            </a:pathLst>
          </a:custGeom>
          <a:noFill/>
          <a:ln w="8887" cap="flat">
            <a:solidFill>
              <a:srgbClr val="E2E6EA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79" name="Shape 77">
            <a:extLst>
              <a:ext uri="{FF2B5EF4-FFF2-40B4-BE49-F238E27FC236}">
                <a16:creationId xmlns:a16="http://schemas.microsoft.com/office/drawing/2014/main" id="{BCFD96CF-EC07-B901-AF39-255B030149D7}"/>
              </a:ext>
            </a:extLst>
          </p:cNvPr>
          <p:cNvSpPr/>
          <p:nvPr/>
        </p:nvSpPr>
        <p:spPr>
          <a:xfrm>
            <a:off x="6153912" y="5522976"/>
            <a:ext cx="1024128" cy="356616"/>
          </a:xfrm>
          <a:custGeom>
            <a:avLst>
              <a:gd name="f0" fmla="val 2215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17212B"/>
          </a:solidFill>
          <a:ln w="12701" cap="flat">
            <a:solidFill>
              <a:srgbClr val="17212B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80" name="Text 78">
            <a:extLst>
              <a:ext uri="{FF2B5EF4-FFF2-40B4-BE49-F238E27FC236}">
                <a16:creationId xmlns:a16="http://schemas.microsoft.com/office/drawing/2014/main" id="{D9F43CBD-F7C1-988D-1DC8-54D885F9B8BC}"/>
              </a:ext>
            </a:extLst>
          </p:cNvPr>
          <p:cNvSpPr/>
          <p:nvPr/>
        </p:nvSpPr>
        <p:spPr>
          <a:xfrm>
            <a:off x="6199632" y="5586983"/>
            <a:ext cx="932688" cy="1645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30" b="1" i="0" u="none" strike="noStrike" kern="1200" cap="none" spc="0" baseline="0">
                <a:solidFill>
                  <a:srgbClr val="FFFFFF"/>
                </a:solidFill>
                <a:uFillTx/>
                <a:latin typeface="Aptos"/>
              </a:rPr>
              <a:t>CF / SG / CRE</a:t>
            </a:r>
            <a:endParaRPr lang="en-US" sz="93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81" name="Text 79">
            <a:extLst>
              <a:ext uri="{FF2B5EF4-FFF2-40B4-BE49-F238E27FC236}">
                <a16:creationId xmlns:a16="http://schemas.microsoft.com/office/drawing/2014/main" id="{2DC32793-34DD-B3F0-A62F-EDCF917AD2C6}"/>
              </a:ext>
            </a:extLst>
          </p:cNvPr>
          <p:cNvSpPr/>
          <p:nvPr/>
        </p:nvSpPr>
        <p:spPr>
          <a:xfrm>
            <a:off x="7342631" y="5532120"/>
            <a:ext cx="1874519" cy="20116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1" i="0" u="none" strike="noStrike" kern="1200" cap="none" spc="0" baseline="0">
                <a:solidFill>
                  <a:srgbClr val="17212B"/>
                </a:solidFill>
                <a:uFillTx/>
                <a:latin typeface="Aptos"/>
              </a:rPr>
              <a:t>Entités SOCOTA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82" name="Text 80">
            <a:extLst>
              <a:ext uri="{FF2B5EF4-FFF2-40B4-BE49-F238E27FC236}">
                <a16:creationId xmlns:a16="http://schemas.microsoft.com/office/drawing/2014/main" id="{C4273E9B-F6B7-8EF3-768F-000713CF7F36}"/>
              </a:ext>
            </a:extLst>
          </p:cNvPr>
          <p:cNvSpPr/>
          <p:nvPr/>
        </p:nvSpPr>
        <p:spPr>
          <a:xfrm>
            <a:off x="7342631" y="5742432"/>
            <a:ext cx="4187952" cy="21945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80" b="0" i="0" u="none" strike="noStrike" kern="1200" cap="none" spc="0" baseline="0">
                <a:solidFill>
                  <a:srgbClr val="5D6773"/>
                </a:solidFill>
                <a:uFillTx/>
                <a:latin typeface="Aptos"/>
              </a:rPr>
              <a:t>Entités couvertes par le portefeuille de projets DIG.</a:t>
            </a:r>
            <a:endParaRPr lang="en-US" sz="88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83" name="Shape 81">
            <a:extLst>
              <a:ext uri="{FF2B5EF4-FFF2-40B4-BE49-F238E27FC236}">
                <a16:creationId xmlns:a16="http://schemas.microsoft.com/office/drawing/2014/main" id="{08B16BDB-E28A-16D1-0E4A-6C4B4A5FE2F8}"/>
              </a:ext>
            </a:extLst>
          </p:cNvPr>
          <p:cNvSpPr/>
          <p:nvPr/>
        </p:nvSpPr>
        <p:spPr>
          <a:xfrm>
            <a:off x="530352" y="6144768"/>
            <a:ext cx="11109960" cy="292608"/>
          </a:xfrm>
          <a:custGeom>
            <a:avLst>
              <a:gd name="f0" fmla="val 2025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EAF4D4"/>
          </a:solidFill>
          <a:ln w="12701" cap="flat">
            <a:solidFill>
              <a:srgbClr val="CFE4A2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84" name="Text 82">
            <a:extLst>
              <a:ext uri="{FF2B5EF4-FFF2-40B4-BE49-F238E27FC236}">
                <a16:creationId xmlns:a16="http://schemas.microsoft.com/office/drawing/2014/main" id="{1B6DBE9D-059E-77F7-F06F-09D42D7941C5}"/>
              </a:ext>
            </a:extLst>
          </p:cNvPr>
          <p:cNvSpPr/>
          <p:nvPr/>
        </p:nvSpPr>
        <p:spPr>
          <a:xfrm>
            <a:off x="749808" y="6208776"/>
            <a:ext cx="10698480" cy="1371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80" b="1" i="0" u="none" strike="noStrike" kern="1200" cap="none" spc="0" baseline="0">
                <a:solidFill>
                  <a:srgbClr val="547800"/>
                </a:solidFill>
                <a:uFillTx/>
                <a:latin typeface="Aptos"/>
              </a:rPr>
              <a:t>Référence : utiliser ces définitions de manière uniforme dans les RFC, dashboards et communications du projet.</a:t>
            </a:r>
            <a:endParaRPr lang="en-US" sz="88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85" name="Slide Number Placeholder 0">
            <a:extLst>
              <a:ext uri="{FF2B5EF4-FFF2-40B4-BE49-F238E27FC236}">
                <a16:creationId xmlns:a16="http://schemas.microsoft.com/office/drawing/2014/main" id="{A38F41DC-B89C-B9F7-65D5-C055E7549D1C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9EB3D30F-E7FA-4B01-AEA7-F7CD78BBB3D5}" type="slidenum"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1091</Words>
  <Application>Microsoft Office PowerPoint</Application>
  <PresentationFormat>Grand écran</PresentationFormat>
  <Paragraphs>215</Paragraphs>
  <Slides>7</Slides>
  <Notes>7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1" baseType="lpstr">
      <vt:lpstr>Aptos</vt:lpstr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RFC - PMO Digital Platform SOCOTA</dc:title>
  <dc:subject>RFC DIG - Application Intranet de Pilotage des Projets de Digitalisation</dc:subject>
  <dc:creator>Jackson RAKOTO</dc:creator>
  <cp:lastModifiedBy>Jackson RAKOTO</cp:lastModifiedBy>
  <cp:revision>2</cp:revision>
  <dcterms:created xsi:type="dcterms:W3CDTF">2026-08-11T13:32:54Z</dcterms:created>
  <dcterms:modified xsi:type="dcterms:W3CDTF">2026-08-11T13:43:14Z</dcterms:modified>
</cp:coreProperties>
</file>